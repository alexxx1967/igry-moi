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0333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Сколько времени уходит на подготовку одного занятия — час? два?
- Z.ai позволяет сократить это время в разы.
- И при этом сделать урок интереснее.
- Об этом — короткий honest рассказ про ассистента.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Z.ai — китайская нейросеть от Zhipu AI, основанной в 2019 году.
- Международный ребрендинг в Z.ai — 2025 год.
- Главный плюс для нас: работает из России без VPN.
- Базовый чат бесплатен, интерфейс на русском.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Ключевая дата — февраль 2026: появился режим «Агент».
- Это поворотный момент: чат превратился в исполнителя.
- Zhipu AI основана в 2019, международный ребрендинг — 2025.
- Дальше — GLM-4.5, GLM-5, режим Агент, ZCode.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Простая метафора: чат — консультант, агент — фрилансер.
- Агент сам дробит задачу, запускает, ищет ошибки, исправляет.
- Приносит готовый результат — а не просто отвечает.
- Не нужно быть программистом — достаточно описать цель словами.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На главной — две вкладки: Chat и Agent.
- Chat — это диалог, до 10 файлов по 50 МБ каждый.
- Agent — четыре готовых сценария.
- Full-Stack, Writing, Data Insight, Slide/Poster.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Четыре готовых сценария работы с Z.ai.
 • Интерактив по видео — mp4 + команда = HTML.
 • Презентация за пять минут через Slide/Poster Agent.
 • Проверка фото работ с пошаговым разбором.
 • Тесты, карточки, рабочие листы — за минуты, не за вечер.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Три простых шага: открыть, попробовать, загрузить файл.
 • chat.z.ai — без VPN и без регистрации.
 • Первая задача — например, викторина по теме «Клетка».
 • Дальше — полный сценарий с агентом.
 • Готовый урок за 20 минут вместо трёх часов.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Главная мысль: Z.ai не заменяет учителя.
 • Он берёт на себя рутину и освобождает время.
 • Время — для живого общения с учеником.
 • Попробуйте сегодня: один урок, одно задание, одна игра.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Z.ai — не одна модель, а целая экосистема.
 • GLM-5 — флагман, GLM-4.5 — предшественник.
 • Агенты для кода и презентаций.
 • Плюс мультимодальность: текст, изображения, видео.
 • Всё в одном окне — chat.z.ai, переключаться не нужно.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Реальные цифры: 88% учителей освоили платформу за неделю.
 • 80% завершили минимум одну главу учебного пособия.
 • Отзывы фиксируют рост мотивации и экономию времени.
 • Цитата участника: выходные вместо пары часов.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Пять применений Z.ai в ежедневной работе учителя.
- Подготовка урока: структура, тезисы, методичка по теме.
- Раздаточные материалы: карточки, рабочие листы, иллюстрации.
- Интерактивы: мини-игры, викторины, проверка заданий.
- Проверка работ и развитие самого учителя.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Три живых отзыва от разных пользователей.
- Разработчик: рутина и быстрое прототипирование.
- Технический писатель: скрипты за минуты.
- Новичок: готовые решения как обучающий пример.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Четыре главных страха потенциального пользователя.
- Деньги — базовый чат бесплатный.
- VPN — работает из России напрямую.
- Сложность — интерфейс на русском.
- Замена учителя — нет, рутину. Учить детей будете 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Финал: попробуйте Z.ai уже сегодня.
- Одна задача — один урок — один результат.
- Три шага: открыть chat.z.ai, выбрать Агент, дать задачу.
- QR-код ведёт прямо на chat.z.ai.
- Учитель — режиссёр, Z.ai — команда.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714375" y="-642937"/>
            <a:ext cx="2286000" cy="2286000"/>
          </a:xfrm>
          <a:prstGeom prst="ellipse">
            <a:avLst/>
          </a:prstGeom>
          <a:solidFill>
            <a:srgbClr val="D4B98C">
              <a:alpha val="4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2571750" y="2000250"/>
            <a:ext cx="2571750" cy="2571750"/>
          </a:xfrm>
          <a:prstGeom prst="ellipse">
            <a:avLst/>
          </a:prstGeom>
          <a:solidFill>
            <a:srgbClr val="E0BFC3">
              <a:alpha val="3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-571500" y="3500438"/>
            <a:ext cx="2428875" cy="2428875"/>
          </a:xfrm>
          <a:prstGeom prst="ellipse">
            <a:avLst/>
          </a:prstGeom>
          <a:solidFill>
            <a:srgbClr val="9A8AB5">
              <a:alpha val="4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2" descr="/tmp/h2p-fit-1790419998355-wdte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088" y="400050"/>
            <a:ext cx="3471863" cy="43434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14350" y="657225"/>
            <a:ext cx="4999482" cy="203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i="1" kern="0" spc="19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цифровой ассистент для тех, кто учит</a:t>
            </a:r>
            <a:endParaRPr lang="en-US" sz="956" dirty="0"/>
          </a:p>
        </p:txBody>
      </p:sp>
      <p:sp>
        <p:nvSpPr>
          <p:cNvPr id="9" name="Text 4"/>
          <p:cNvSpPr/>
          <p:nvPr/>
        </p:nvSpPr>
        <p:spPr>
          <a:xfrm>
            <a:off x="514350" y="1057387"/>
            <a:ext cx="514350" cy="17859"/>
          </a:xfrm>
          <a:prstGeom prst="rect">
            <a:avLst/>
          </a:prstGeom>
          <a:solidFill>
            <a:srgbClr val="7A6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514350" y="1324049"/>
            <a:ext cx="7314057" cy="1040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88"/>
              </a:lnSpc>
              <a:buNone/>
            </a:pPr>
            <a:r>
              <a:rPr lang="en-US" sz="7988" kern="0" spc="160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Z.ai</a:t>
            </a:r>
            <a:endParaRPr lang="en-US" sz="7988" dirty="0"/>
          </a:p>
        </p:txBody>
      </p:sp>
      <p:sp>
        <p:nvSpPr>
          <p:cNvPr id="11" name="Text 6"/>
          <p:cNvSpPr/>
          <p:nvPr/>
        </p:nvSpPr>
        <p:spPr>
          <a:xfrm>
            <a:off x="514350" y="2387687"/>
            <a:ext cx="571500" cy="35719"/>
          </a:xfrm>
          <a:prstGeom prst="rect">
            <a:avLst/>
          </a:prstGeom>
          <a:solidFill>
            <a:srgbClr val="7A6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514350" y="2623431"/>
            <a:ext cx="4286250" cy="1204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475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Z.ai — ваш цифровой ассистент, который берёт рутину на себя</a:t>
            </a:r>
            <a:endParaRPr lang="en-US" sz="2475" dirty="0"/>
          </a:p>
        </p:txBody>
      </p:sp>
      <p:sp>
        <p:nvSpPr>
          <p:cNvPr id="13" name="Text 8"/>
          <p:cNvSpPr/>
          <p:nvPr/>
        </p:nvSpPr>
        <p:spPr>
          <a:xfrm>
            <a:off x="514350" y="3854946"/>
            <a:ext cx="4286250" cy="4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181" dirty="0">
                <a:solidFill>
                  <a:srgbClr val="38352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освободить время для главного — уроков, учеников и себя</a:t>
            </a:r>
            <a:endParaRPr lang="en-US" sz="1181" dirty="0"/>
          </a:p>
        </p:txBody>
      </p:sp>
      <p:sp>
        <p:nvSpPr>
          <p:cNvPr id="14" name="Shape 9"/>
          <p:cNvSpPr/>
          <p:nvPr/>
        </p:nvSpPr>
        <p:spPr>
          <a:xfrm>
            <a:off x="525066" y="4137794"/>
            <a:ext cx="0" cy="605656"/>
          </a:xfrm>
          <a:prstGeom prst="line">
            <a:avLst/>
          </a:prstGeom>
          <a:noFill/>
          <a:ln w="21431">
            <a:solidFill>
              <a:srgbClr val="7A623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78656" y="4180656"/>
            <a:ext cx="4264819" cy="519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7"/>
              </a:lnSpc>
              <a:buNone/>
            </a:pPr>
            <a:r>
              <a:rPr lang="en-US" sz="1463" i="1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«Проверено репетитором, который раньше тратил 3 часа на один урок. Теперь — 20 минут»</a:t>
            </a:r>
            <a:endParaRPr lang="en-US" sz="1463" dirty="0"/>
          </a:p>
        </p:txBody>
      </p:sp>
      <p:sp>
        <p:nvSpPr>
          <p:cNvPr id="16" name="Text 11"/>
          <p:cNvSpPr/>
          <p:nvPr/>
        </p:nvSpPr>
        <p:spPr>
          <a:xfrm>
            <a:off x="8117421" y="4740994"/>
            <a:ext cx="747855" cy="203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kern="0" spc="96" dirty="0">
                <a:solidFill>
                  <a:srgbClr val="4D49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14</a:t>
            </a:r>
            <a:endParaRPr lang="en-US" sz="95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215188" y="-714375"/>
            <a:ext cx="2571750" cy="2571750"/>
          </a:xfrm>
          <a:prstGeom prst="ellipse">
            <a:avLst/>
          </a:prstGeom>
          <a:solidFill>
            <a:srgbClr val="D4B98C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500062" y="3786188"/>
            <a:ext cx="2000250" cy="2000250"/>
          </a:xfrm>
          <a:prstGeom prst="ellipse">
            <a:avLst/>
          </a:prstGeom>
          <a:solidFill>
            <a:srgbClr val="9A8AB5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514350" y="657225"/>
            <a:ext cx="5374958" cy="203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i="1" kern="0" spc="19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Раздел 01 · Знакомство</a:t>
            </a:r>
            <a:endParaRPr lang="en-US" sz="956" dirty="0"/>
          </a:p>
        </p:txBody>
      </p:sp>
      <p:sp>
        <p:nvSpPr>
          <p:cNvPr id="7" name="Text 3"/>
          <p:cNvSpPr/>
          <p:nvPr/>
        </p:nvSpPr>
        <p:spPr>
          <a:xfrm>
            <a:off x="514350" y="1043099"/>
            <a:ext cx="514350" cy="17859"/>
          </a:xfrm>
          <a:prstGeom prst="rect">
            <a:avLst/>
          </a:prstGeom>
          <a:solidFill>
            <a:srgbClr val="7A6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14350" y="1309762"/>
            <a:ext cx="4572000" cy="75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45"/>
              </a:lnSpc>
              <a:buNone/>
            </a:pPr>
            <a:r>
              <a:rPr lang="en-US" sz="2250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Китайский гость, который говорит по-русски и работает без VPN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514350" y="2264122"/>
            <a:ext cx="71438" cy="71438"/>
          </a:xfrm>
          <a:prstGeom prst="ellipse">
            <a:avLst/>
          </a:prstGeom>
          <a:solidFill>
            <a:srgbClr val="7A6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85800" y="2192685"/>
            <a:ext cx="4543425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Z.ai — платформа с нейросетями от компании Zhipu AI, созданной в 2019 году выходцами из Университета Цинхуа.</a:t>
            </a:r>
            <a:endParaRPr lang="en-US" sz="1125" dirty="0"/>
          </a:p>
        </p:txBody>
      </p:sp>
      <p:sp>
        <p:nvSpPr>
          <p:cNvPr id="11" name="Text 7"/>
          <p:cNvSpPr/>
          <p:nvPr/>
        </p:nvSpPr>
        <p:spPr>
          <a:xfrm>
            <a:off x="514350" y="2792760"/>
            <a:ext cx="71438" cy="71438"/>
          </a:xfrm>
          <a:prstGeom prst="ellipse">
            <a:avLst/>
          </a:prstGeom>
          <a:solidFill>
            <a:srgbClr val="7A6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85800" y="2721322"/>
            <a:ext cx="4543425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2025 году компания вышла на международный рынок под именем Z.ai.</a:t>
            </a:r>
            <a:endParaRPr lang="en-US" sz="1125" dirty="0"/>
          </a:p>
        </p:txBody>
      </p:sp>
      <p:sp>
        <p:nvSpPr>
          <p:cNvPr id="13" name="Text 9"/>
          <p:cNvSpPr/>
          <p:nvPr/>
        </p:nvSpPr>
        <p:spPr>
          <a:xfrm>
            <a:off x="514350" y="3321397"/>
            <a:ext cx="71438" cy="71438"/>
          </a:xfrm>
          <a:prstGeom prst="ellipse">
            <a:avLst/>
          </a:prstGeom>
          <a:solidFill>
            <a:srgbClr val="7A6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85800" y="3249960"/>
            <a:ext cx="4543425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Сегодня Z.ai — одна из крупнейших независимых AI-компаний Китая.</a:t>
            </a:r>
            <a:endParaRPr lang="en-US" sz="1125" dirty="0"/>
          </a:p>
        </p:txBody>
      </p:sp>
      <p:sp>
        <p:nvSpPr>
          <p:cNvPr id="15" name="Text 11"/>
          <p:cNvSpPr/>
          <p:nvPr/>
        </p:nvSpPr>
        <p:spPr>
          <a:xfrm>
            <a:off x="514350" y="3850035"/>
            <a:ext cx="71438" cy="71438"/>
          </a:xfrm>
          <a:prstGeom prst="ellipse">
            <a:avLst/>
          </a:prstGeom>
          <a:solidFill>
            <a:srgbClr val="7A6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85800" y="3778597"/>
            <a:ext cx="4543425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Работает из России без VPN. Базовый чат — бесплатно.</a:t>
            </a:r>
            <a:endParaRPr lang="en-US" sz="1125" dirty="0"/>
          </a:p>
        </p:txBody>
      </p:sp>
      <p:sp>
        <p:nvSpPr>
          <p:cNvPr id="17" name="Text 13"/>
          <p:cNvSpPr/>
          <p:nvPr/>
        </p:nvSpPr>
        <p:spPr>
          <a:xfrm>
            <a:off x="514350" y="4121497"/>
            <a:ext cx="4429125" cy="40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8"/>
              </a:lnSpc>
              <a:buNone/>
            </a:pPr>
            <a:r>
              <a:rPr lang="en-US" sz="1013" i="1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«Интерфейс на русском, ответы на русском, а VPN вам не понадобится. Расслабьтесь.»</a:t>
            </a:r>
            <a:endParaRPr lang="en-US" sz="1013" dirty="0"/>
          </a:p>
        </p:txBody>
      </p:sp>
      <p:pic>
        <p:nvPicPr>
          <p:cNvPr id="18" name="Image 2" descr="/tmp/h2p-fit-1790419998394-uzx5f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685800"/>
            <a:ext cx="2971800" cy="22860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661422" y="3089672"/>
            <a:ext cx="2964656" cy="787598"/>
          </a:xfrm>
          <a:prstGeom prst="roundRect">
            <a:avLst>
              <a:gd name="adj" fmla="val 21769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3D3A3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807869" y="320754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969" dirty="0"/>
          </a:p>
        </p:txBody>
      </p:sp>
      <p:sp>
        <p:nvSpPr>
          <p:cNvPr id="21" name="Text 16"/>
          <p:cNvSpPr/>
          <p:nvPr/>
        </p:nvSpPr>
        <p:spPr>
          <a:xfrm>
            <a:off x="6093619" y="3221831"/>
            <a:ext cx="238601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Из Китая в Россию — без преград</a:t>
            </a:r>
            <a:endParaRPr lang="en-US" sz="1125" dirty="0"/>
          </a:p>
        </p:txBody>
      </p:sp>
      <p:sp>
        <p:nvSpPr>
          <p:cNvPr id="22" name="Text 17"/>
          <p:cNvSpPr/>
          <p:nvPr/>
        </p:nvSpPr>
        <p:spPr>
          <a:xfrm>
            <a:off x="5807869" y="3480492"/>
            <a:ext cx="597508" cy="291708"/>
          </a:xfrm>
          <a:prstGeom prst="roundRect">
            <a:avLst>
              <a:gd name="adj" fmla="val 3261986"/>
            </a:avLst>
          </a:prstGeom>
          <a:solidFill>
            <a:srgbClr val="FFFFFF">
              <a:alpha val="50000"/>
            </a:srgbClr>
          </a:solidFill>
          <a:ln w="7144">
            <a:solidFill>
              <a:srgbClr val="B8996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5807869" y="3493294"/>
            <a:ext cx="597508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08"/>
              </a:lnSpc>
              <a:buNone/>
            </a:pPr>
            <a:r>
              <a:rPr lang="en-US" sz="844" i="1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без визы</a:t>
            </a:r>
            <a:endParaRPr lang="en-US" sz="844" dirty="0"/>
          </a:p>
        </p:txBody>
      </p:sp>
      <p:sp>
        <p:nvSpPr>
          <p:cNvPr id="24" name="Text 19"/>
          <p:cNvSpPr/>
          <p:nvPr/>
        </p:nvSpPr>
        <p:spPr>
          <a:xfrm>
            <a:off x="6462526" y="3480492"/>
            <a:ext cx="585341" cy="291708"/>
          </a:xfrm>
          <a:prstGeom prst="roundRect">
            <a:avLst>
              <a:gd name="adj" fmla="val 3261986"/>
            </a:avLst>
          </a:prstGeom>
          <a:solidFill>
            <a:srgbClr val="FFFFFF">
              <a:alpha val="50000"/>
            </a:srgbClr>
          </a:solidFill>
          <a:ln w="7144">
            <a:solidFill>
              <a:srgbClr val="B8996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6462526" y="3493294"/>
            <a:ext cx="585341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08"/>
              </a:lnSpc>
              <a:buNone/>
            </a:pPr>
            <a:r>
              <a:rPr lang="en-US" sz="844" i="1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без VPN</a:t>
            </a:r>
            <a:endParaRPr lang="en-US" sz="844" dirty="0"/>
          </a:p>
        </p:txBody>
      </p:sp>
      <p:sp>
        <p:nvSpPr>
          <p:cNvPr id="26" name="Text 21"/>
          <p:cNvSpPr/>
          <p:nvPr/>
        </p:nvSpPr>
        <p:spPr>
          <a:xfrm>
            <a:off x="7105017" y="3480492"/>
            <a:ext cx="1014636" cy="291708"/>
          </a:xfrm>
          <a:prstGeom prst="roundRect">
            <a:avLst>
              <a:gd name="adj" fmla="val 3261986"/>
            </a:avLst>
          </a:prstGeom>
          <a:solidFill>
            <a:srgbClr val="FFFFFF">
              <a:alpha val="50000"/>
            </a:srgbClr>
          </a:solidFill>
          <a:ln w="7144">
            <a:solidFill>
              <a:srgbClr val="B8996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7105017" y="3493294"/>
            <a:ext cx="1014636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08"/>
              </a:lnSpc>
              <a:buNone/>
            </a:pPr>
            <a:r>
              <a:rPr lang="en-US" sz="844" i="1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без головной боли</a:t>
            </a:r>
            <a:endParaRPr lang="en-US" sz="844" dirty="0"/>
          </a:p>
        </p:txBody>
      </p:sp>
      <p:sp>
        <p:nvSpPr>
          <p:cNvPr id="28" name="Text 23"/>
          <p:cNvSpPr/>
          <p:nvPr/>
        </p:nvSpPr>
        <p:spPr>
          <a:xfrm>
            <a:off x="8117421" y="4740994"/>
            <a:ext cx="747855" cy="203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kern="0" spc="96" dirty="0">
                <a:solidFill>
                  <a:srgbClr val="4D49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14</a:t>
            </a:r>
            <a:endParaRPr lang="en-US" sz="95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0" y="3571875"/>
            <a:ext cx="2428875" cy="2428875"/>
          </a:xfrm>
          <a:prstGeom prst="ellipse">
            <a:avLst/>
          </a:prstGeom>
          <a:solidFill>
            <a:srgbClr val="E0BFC3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571500" y="-571500"/>
            <a:ext cx="1857375" cy="1857375"/>
          </a:xfrm>
          <a:prstGeom prst="ellipse">
            <a:avLst/>
          </a:prstGeom>
          <a:solidFill>
            <a:srgbClr val="D4B98C">
              <a:alpha val="3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514350" y="571500"/>
            <a:ext cx="5863590" cy="203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i="1" kern="0" spc="19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Раздел 02 · Хронология</a:t>
            </a:r>
            <a:endParaRPr lang="en-US" sz="956" dirty="0"/>
          </a:p>
        </p:txBody>
      </p:sp>
      <p:sp>
        <p:nvSpPr>
          <p:cNvPr id="7" name="Text 3"/>
          <p:cNvSpPr/>
          <p:nvPr/>
        </p:nvSpPr>
        <p:spPr>
          <a:xfrm>
            <a:off x="514350" y="957374"/>
            <a:ext cx="514350" cy="17859"/>
          </a:xfrm>
          <a:prstGeom prst="rect">
            <a:avLst/>
          </a:prstGeom>
          <a:solidFill>
            <a:srgbClr val="7A6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14350" y="1209749"/>
            <a:ext cx="5500688" cy="703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От чат-бота до агента, который умеет работать</a:t>
            </a:r>
            <a:endParaRPr lang="en-US" sz="2138" dirty="0"/>
          </a:p>
        </p:txBody>
      </p:sp>
      <p:pic>
        <p:nvPicPr>
          <p:cNvPr id="9" name="Image 2" descr="/tmp/h2p-fit-1790419998356-gotz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438" y="571500"/>
            <a:ext cx="2843213" cy="7858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4350" y="2286000"/>
            <a:ext cx="8115300" cy="14288"/>
          </a:xfrm>
          <a:prstGeom prst="rect">
            <a:avLst/>
          </a:prstGeom>
          <a:solidFill>
            <a:srgbClr val="7A6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647179" y="2478881"/>
            <a:ext cx="1357313" cy="624297"/>
          </a:xfrm>
          <a:prstGeom prst="roundRect">
            <a:avLst>
              <a:gd name="adj" fmla="val 21360"/>
            </a:avLst>
          </a:prstGeom>
          <a:solidFill>
            <a:srgbClr val="D9CCE8">
              <a:alpha val="7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775767" y="2593181"/>
            <a:ext cx="110013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85"/>
              </a:lnSpc>
              <a:buNone/>
            </a:pPr>
            <a:r>
              <a:rPr lang="en-US" sz="1350" dirty="0">
                <a:solidFill>
                  <a:srgbClr val="7A62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2019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775767" y="2838859"/>
            <a:ext cx="110013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44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Основание Zhipu AI</a:t>
            </a:r>
            <a:endParaRPr lang="en-US" sz="844" dirty="0"/>
          </a:p>
        </p:txBody>
      </p:sp>
      <p:sp>
        <p:nvSpPr>
          <p:cNvPr id="14" name="Text 9"/>
          <p:cNvSpPr/>
          <p:nvPr/>
        </p:nvSpPr>
        <p:spPr>
          <a:xfrm>
            <a:off x="2270150" y="2478881"/>
            <a:ext cx="1357313" cy="774316"/>
          </a:xfrm>
          <a:prstGeom prst="roundRect">
            <a:avLst>
              <a:gd name="adj" fmla="val 17222"/>
            </a:avLst>
          </a:prstGeom>
          <a:solidFill>
            <a:srgbClr val="D9CCE8">
              <a:alpha val="7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2366493" y="2593181"/>
            <a:ext cx="1164626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85"/>
              </a:lnSpc>
              <a:buNone/>
            </a:pPr>
            <a:r>
              <a:rPr lang="en-US" sz="1350" dirty="0">
                <a:solidFill>
                  <a:srgbClr val="7A623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Апрель 2025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2398737" y="2838859"/>
            <a:ext cx="11001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44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Запуск платформы Z.ai</a:t>
            </a:r>
            <a:endParaRPr lang="en-US" sz="844" dirty="0"/>
          </a:p>
        </p:txBody>
      </p:sp>
      <p:sp>
        <p:nvSpPr>
          <p:cNvPr id="17" name="Text 12"/>
          <p:cNvSpPr/>
          <p:nvPr/>
        </p:nvSpPr>
        <p:spPr>
          <a:xfrm>
            <a:off x="3893121" y="2478881"/>
            <a:ext cx="1357313" cy="774316"/>
          </a:xfrm>
          <a:prstGeom prst="roundRect">
            <a:avLst>
              <a:gd name="adj" fmla="val 17222"/>
            </a:avLst>
          </a:prstGeom>
          <a:solidFill>
            <a:srgbClr val="D9CCE8">
              <a:alpha val="7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4021708" y="2593181"/>
            <a:ext cx="110013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85"/>
              </a:lnSpc>
              <a:buNone/>
            </a:pPr>
            <a:r>
              <a:rPr lang="en-US" sz="1350" dirty="0">
                <a:solidFill>
                  <a:srgbClr val="7A623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Июль 2025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021708" y="2838859"/>
            <a:ext cx="11001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44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Выход GLM-4.5, запуск chat.z.ai</a:t>
            </a:r>
            <a:endParaRPr lang="en-US" sz="844" dirty="0"/>
          </a:p>
        </p:txBody>
      </p:sp>
      <p:sp>
        <p:nvSpPr>
          <p:cNvPr id="20" name="Text 15"/>
          <p:cNvSpPr/>
          <p:nvPr/>
        </p:nvSpPr>
        <p:spPr>
          <a:xfrm>
            <a:off x="5523235" y="2486025"/>
            <a:ext cx="1343025" cy="938622"/>
          </a:xfrm>
          <a:prstGeom prst="roundRect">
            <a:avLst>
              <a:gd name="adj" fmla="val 14207"/>
            </a:avLst>
          </a:prstGeom>
          <a:solidFill>
            <a:srgbClr val="D9CCE8">
              <a:alpha val="85000"/>
            </a:srgbClr>
          </a:solidFill>
          <a:ln w="14288">
            <a:solidFill>
              <a:srgbClr val="B0757B"/>
            </a:solidFill>
            <a:prstDash val="solid"/>
          </a:ln>
          <a:effectLst>
            <a:outerShdw blurRad="171450" dist="57150" dir="5400000" algn="bl" rotWithShape="0">
              <a:srgbClr val="B0757B">
                <a:alpha val="2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6759104" y="239315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1688" dirty="0"/>
          </a:p>
        </p:txBody>
      </p:sp>
      <p:sp>
        <p:nvSpPr>
          <p:cNvPr id="22" name="Text 17"/>
          <p:cNvSpPr/>
          <p:nvPr/>
        </p:nvSpPr>
        <p:spPr>
          <a:xfrm>
            <a:off x="5566915" y="2607469"/>
            <a:ext cx="1255666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85"/>
              </a:lnSpc>
              <a:buNone/>
            </a:pPr>
            <a:r>
              <a:rPr lang="en-US" sz="1350" dirty="0">
                <a:solidFill>
                  <a:srgbClr val="B0757B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Февраль 2026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5658966" y="2853147"/>
            <a:ext cx="1103709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44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Выход GLM-5 и запуск режима «Агент»</a:t>
            </a:r>
            <a:endParaRPr lang="en-US" sz="844" dirty="0"/>
          </a:p>
        </p:txBody>
      </p:sp>
      <p:sp>
        <p:nvSpPr>
          <p:cNvPr id="24" name="Text 19"/>
          <p:cNvSpPr/>
          <p:nvPr/>
        </p:nvSpPr>
        <p:spPr>
          <a:xfrm>
            <a:off x="7139062" y="2478881"/>
            <a:ext cx="1357313" cy="624297"/>
          </a:xfrm>
          <a:prstGeom prst="roundRect">
            <a:avLst>
              <a:gd name="adj" fmla="val 21360"/>
            </a:avLst>
          </a:prstGeom>
          <a:solidFill>
            <a:srgbClr val="D9CCE8">
              <a:alpha val="7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7267649" y="2593181"/>
            <a:ext cx="110013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85"/>
              </a:lnSpc>
              <a:buNone/>
            </a:pPr>
            <a:r>
              <a:rPr lang="en-US" sz="1350" dirty="0">
                <a:solidFill>
                  <a:srgbClr val="7A623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Июль 2026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7267649" y="2838859"/>
            <a:ext cx="11001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44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Запуск ZCode</a:t>
            </a:r>
            <a:endParaRPr lang="en-US" sz="844" dirty="0"/>
          </a:p>
        </p:txBody>
      </p:sp>
      <p:sp>
        <p:nvSpPr>
          <p:cNvPr id="27" name="Text 22"/>
          <p:cNvSpPr/>
          <p:nvPr/>
        </p:nvSpPr>
        <p:spPr>
          <a:xfrm>
            <a:off x="1214438" y="4321299"/>
            <a:ext cx="6715125" cy="42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69" i="1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«Обратите внимание на февраль 2026. Именно тогда Z.ai перестал быть просто чатом и превратился в того, кто может делать работу за вас.»</a:t>
            </a:r>
            <a:endParaRPr lang="en-US" sz="1069" dirty="0"/>
          </a:p>
        </p:txBody>
      </p:sp>
      <p:sp>
        <p:nvSpPr>
          <p:cNvPr id="28" name="Text 23"/>
          <p:cNvSpPr/>
          <p:nvPr/>
        </p:nvSpPr>
        <p:spPr>
          <a:xfrm>
            <a:off x="8117421" y="4740994"/>
            <a:ext cx="747855" cy="203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kern="0" spc="96" dirty="0">
                <a:solidFill>
                  <a:srgbClr val="4D49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14</a:t>
            </a:r>
            <a:endParaRPr lang="en-US" sz="956" dirty="0"/>
          </a:p>
        </p:txBody>
      </p:sp>
      <p:sp>
        <p:nvSpPr>
          <p:cNvPr id="29" name="Text 24"/>
          <p:cNvSpPr/>
          <p:nvPr/>
        </p:nvSpPr>
        <p:spPr>
          <a:xfrm>
            <a:off x="1272257" y="2232422"/>
            <a:ext cx="107156" cy="107156"/>
          </a:xfrm>
          <a:prstGeom prst="ellipse">
            <a:avLst/>
          </a:prstGeom>
          <a:solidFill>
            <a:srgbClr val="7A6238"/>
          </a:solidFill>
          <a:ln w="21431">
            <a:solidFill>
              <a:srgbClr val="F7EFE6"/>
            </a:solidFill>
            <a:prstDash val="solid"/>
          </a:ln>
          <a:effectLst>
            <a:outerShdw blurRad="101600" dist="50800" dir="16200000" algn="bl" rotWithShape="0">
              <a:srgbClr val="7A6238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2895228" y="2232422"/>
            <a:ext cx="107156" cy="107156"/>
          </a:xfrm>
          <a:prstGeom prst="ellipse">
            <a:avLst/>
          </a:prstGeom>
          <a:solidFill>
            <a:srgbClr val="7A6238"/>
          </a:solidFill>
          <a:ln w="21431">
            <a:solidFill>
              <a:srgbClr val="F7EFE6"/>
            </a:solidFill>
            <a:prstDash val="solid"/>
          </a:ln>
          <a:effectLst>
            <a:outerShdw blurRad="101600" dist="50800" dir="16200000" algn="bl" rotWithShape="0">
              <a:srgbClr val="7A6238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4518199" y="2232422"/>
            <a:ext cx="107156" cy="107156"/>
          </a:xfrm>
          <a:prstGeom prst="ellipse">
            <a:avLst/>
          </a:prstGeom>
          <a:solidFill>
            <a:srgbClr val="7A6238"/>
          </a:solidFill>
          <a:ln w="21431">
            <a:solidFill>
              <a:srgbClr val="F7EFE6"/>
            </a:solidFill>
            <a:prstDash val="solid"/>
          </a:ln>
          <a:effectLst>
            <a:outerShdw blurRad="101600" dist="50800" dir="16200000" algn="bl" rotWithShape="0">
              <a:srgbClr val="7A6238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6141169" y="2232422"/>
            <a:ext cx="107156" cy="107156"/>
          </a:xfrm>
          <a:prstGeom prst="ellipse">
            <a:avLst/>
          </a:prstGeom>
          <a:solidFill>
            <a:srgbClr val="B0757B"/>
          </a:solidFill>
          <a:ln w="21431">
            <a:solidFill>
              <a:srgbClr val="F7EFE6"/>
            </a:solidFill>
            <a:prstDash val="solid"/>
          </a:ln>
          <a:effectLst>
            <a:outerShdw blurRad="101600" dist="50800" dir="16200000" algn="bl" rotWithShape="0">
              <a:srgbClr val="B0757B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7764140" y="2232422"/>
            <a:ext cx="107156" cy="107156"/>
          </a:xfrm>
          <a:prstGeom prst="ellipse">
            <a:avLst/>
          </a:prstGeom>
          <a:solidFill>
            <a:srgbClr val="7A6238"/>
          </a:solidFill>
          <a:ln w="21431">
            <a:solidFill>
              <a:srgbClr val="F7EFE6"/>
            </a:solidFill>
            <a:prstDash val="solid"/>
          </a:ln>
          <a:effectLst>
            <a:outerShdw blurRad="101600" dist="50800" dir="16200000" algn="bl" rotWithShape="0">
              <a:srgbClr val="7A6238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642937" y="-714375"/>
            <a:ext cx="2286000" cy="2286000"/>
          </a:xfrm>
          <a:prstGeom prst="ellipse">
            <a:avLst/>
          </a:prstGeom>
          <a:solidFill>
            <a:srgbClr val="D4B98C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358063" y="3571875"/>
            <a:ext cx="2428875" cy="2428875"/>
          </a:xfrm>
          <a:prstGeom prst="ellipse">
            <a:avLst/>
          </a:prstGeom>
          <a:solidFill>
            <a:srgbClr val="E0BFC3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514350" y="571500"/>
            <a:ext cx="8629650" cy="203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i="1" kern="0" spc="19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Раздел 03 · Главное</a:t>
            </a:r>
            <a:endParaRPr lang="en-US" sz="956" dirty="0"/>
          </a:p>
        </p:txBody>
      </p:sp>
      <p:sp>
        <p:nvSpPr>
          <p:cNvPr id="7" name="Text 3"/>
          <p:cNvSpPr/>
          <p:nvPr/>
        </p:nvSpPr>
        <p:spPr>
          <a:xfrm>
            <a:off x="514350" y="957374"/>
            <a:ext cx="514350" cy="17859"/>
          </a:xfrm>
          <a:prstGeom prst="rect">
            <a:avLst/>
          </a:prstGeom>
          <a:solidFill>
            <a:srgbClr val="7A6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14350" y="1195462"/>
            <a:ext cx="8629650" cy="38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88"/>
              </a:lnSpc>
              <a:buNone/>
            </a:pPr>
            <a:r>
              <a:rPr lang="en-US" sz="2363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Чат отвечает. Агент — делает</a:t>
            </a:r>
            <a:endParaRPr lang="en-US" sz="2363" dirty="0"/>
          </a:p>
        </p:txBody>
      </p:sp>
      <p:sp>
        <p:nvSpPr>
          <p:cNvPr id="9" name="Text 5"/>
          <p:cNvSpPr/>
          <p:nvPr/>
        </p:nvSpPr>
        <p:spPr>
          <a:xfrm>
            <a:off x="514350" y="1635137"/>
            <a:ext cx="6286500" cy="447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1"/>
              </a:lnSpc>
              <a:buNone/>
            </a:pPr>
            <a:r>
              <a:rPr lang="en-US" sz="1125" dirty="0">
                <a:solidFill>
                  <a:srgbClr val="38352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Вам не нужно быть программистом. Вы описываете словами, что хотите получить, — агент делает.</a:t>
            </a:r>
            <a:endParaRPr lang="en-US" sz="1125" dirty="0"/>
          </a:p>
        </p:txBody>
      </p:sp>
      <p:sp>
        <p:nvSpPr>
          <p:cNvPr id="10" name="Text 6"/>
          <p:cNvSpPr/>
          <p:nvPr/>
        </p:nvSpPr>
        <p:spPr>
          <a:xfrm>
            <a:off x="517922" y="1918097"/>
            <a:ext cx="2586038" cy="2707481"/>
          </a:xfrm>
          <a:prstGeom prst="roundRect">
            <a:avLst>
              <a:gd name="adj" fmla="val 6630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3D3A3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721519" y="210740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813" dirty="0">
                <a:solidFill>
                  <a:srgbClr val="B0757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2813" dirty="0"/>
          </a:p>
        </p:txBody>
      </p:sp>
      <p:sp>
        <p:nvSpPr>
          <p:cNvPr id="12" name="Text 8"/>
          <p:cNvSpPr/>
          <p:nvPr/>
        </p:nvSpPr>
        <p:spPr>
          <a:xfrm>
            <a:off x="1092994" y="2143125"/>
            <a:ext cx="1807369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Chat</a:t>
            </a:r>
            <a:endParaRPr lang="en-US" sz="1688" dirty="0"/>
          </a:p>
        </p:txBody>
      </p:sp>
      <p:sp>
        <p:nvSpPr>
          <p:cNvPr id="13" name="Text 9"/>
          <p:cNvSpPr/>
          <p:nvPr/>
        </p:nvSpPr>
        <p:spPr>
          <a:xfrm>
            <a:off x="721519" y="2493169"/>
            <a:ext cx="2178844" cy="1394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7"/>
              </a:lnSpc>
              <a:buNone/>
            </a:pPr>
            <a:r>
              <a:rPr lang="en-US" sz="956" i="1" dirty="0">
                <a:solidFill>
                  <a:srgbClr val="4D49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Это разговор. Вы спрашиваете — он отвечает.</a:t>
            </a:r>
            <a:endParaRPr lang="en-US" sz="956" dirty="0"/>
          </a:p>
        </p:txBody>
      </p:sp>
      <p:sp>
        <p:nvSpPr>
          <p:cNvPr id="14" name="Text 10"/>
          <p:cNvSpPr/>
          <p:nvPr/>
        </p:nvSpPr>
        <p:spPr>
          <a:xfrm>
            <a:off x="1073795" y="3902755"/>
            <a:ext cx="621953" cy="288471"/>
          </a:xfrm>
          <a:prstGeom prst="roundRect">
            <a:avLst>
              <a:gd name="adj" fmla="val 3298590"/>
            </a:avLst>
          </a:prstGeom>
          <a:solidFill>
            <a:srgbClr val="D9CC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1073795" y="3915556"/>
            <a:ext cx="621953" cy="262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95"/>
              </a:lnSpc>
              <a:buNone/>
            </a:pPr>
            <a:r>
              <a:rPr lang="en-US" sz="900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вопрос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767185" y="3954066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28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828" dirty="0"/>
          </a:p>
        </p:txBody>
      </p:sp>
      <p:sp>
        <p:nvSpPr>
          <p:cNvPr id="17" name="Text 13"/>
          <p:cNvSpPr/>
          <p:nvPr/>
        </p:nvSpPr>
        <p:spPr>
          <a:xfrm>
            <a:off x="2024360" y="3902755"/>
            <a:ext cx="523615" cy="288471"/>
          </a:xfrm>
          <a:prstGeom prst="roundRect">
            <a:avLst>
              <a:gd name="adj" fmla="val 3298590"/>
            </a:avLst>
          </a:prstGeom>
          <a:solidFill>
            <a:srgbClr val="D9CC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024360" y="3915556"/>
            <a:ext cx="523615" cy="262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95"/>
              </a:lnSpc>
              <a:buNone/>
            </a:pPr>
            <a:r>
              <a:rPr lang="en-US" sz="900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ответ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21519" y="4278437"/>
            <a:ext cx="2178844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43"/>
              </a:lnSpc>
              <a:buNone/>
            </a:pPr>
            <a:r>
              <a:rPr lang="en-US" sz="956" i="1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«Чат — это консультант.»</a:t>
            </a:r>
            <a:endParaRPr lang="en-US" sz="956" dirty="0"/>
          </a:p>
        </p:txBody>
      </p:sp>
      <p:pic>
        <p:nvPicPr>
          <p:cNvPr id="20" name="Image 2" descr="/tmp/h2p-fit-1790419998401-9tgm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981" y="1914525"/>
            <a:ext cx="2586038" cy="25717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175540" y="4557713"/>
            <a:ext cx="2792921" cy="17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43"/>
              </a:lnSpc>
              <a:buNone/>
            </a:pPr>
            <a:r>
              <a:rPr lang="en-US" sz="956" i="1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«Слова становятся делом.»</a:t>
            </a:r>
            <a:endParaRPr lang="en-US" sz="956" dirty="0"/>
          </a:p>
        </p:txBody>
      </p:sp>
      <p:sp>
        <p:nvSpPr>
          <p:cNvPr id="22" name="Text 17"/>
          <p:cNvSpPr/>
          <p:nvPr/>
        </p:nvSpPr>
        <p:spPr>
          <a:xfrm>
            <a:off x="6040041" y="1918097"/>
            <a:ext cx="2586038" cy="2707481"/>
          </a:xfrm>
          <a:prstGeom prst="roundRect">
            <a:avLst>
              <a:gd name="adj" fmla="val 6630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B89968"/>
            </a:solidFill>
            <a:prstDash val="solid"/>
          </a:ln>
          <a:effectLst>
            <a:outerShdw blurRad="228600" dist="76200" dir="5400000" algn="bl" rotWithShape="0">
              <a:srgbClr val="3D3A3A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243638" y="210740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813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813" dirty="0"/>
          </a:p>
        </p:txBody>
      </p:sp>
      <p:sp>
        <p:nvSpPr>
          <p:cNvPr id="24" name="Text 19"/>
          <p:cNvSpPr/>
          <p:nvPr/>
        </p:nvSpPr>
        <p:spPr>
          <a:xfrm>
            <a:off x="6615113" y="2143125"/>
            <a:ext cx="1807369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Agent</a:t>
            </a:r>
            <a:endParaRPr lang="en-US" sz="1688" dirty="0"/>
          </a:p>
        </p:txBody>
      </p:sp>
      <p:sp>
        <p:nvSpPr>
          <p:cNvPr id="25" name="Text 20"/>
          <p:cNvSpPr/>
          <p:nvPr/>
        </p:nvSpPr>
        <p:spPr>
          <a:xfrm>
            <a:off x="6243638" y="2493169"/>
            <a:ext cx="2178844" cy="123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7"/>
              </a:lnSpc>
              <a:buNone/>
            </a:pPr>
            <a:r>
              <a:rPr lang="en-US" sz="956" i="1" dirty="0">
                <a:solidFill>
                  <a:srgbClr val="4D49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Это исполнитель. Вы описываете цель — он сам разбивает задачу, пишет, запускает, ищет ошибки, исправляет, показывает результат.</a:t>
            </a:r>
            <a:endParaRPr lang="en-US" sz="956" dirty="0"/>
          </a:p>
        </p:txBody>
      </p:sp>
      <p:sp>
        <p:nvSpPr>
          <p:cNvPr id="26" name="Text 21"/>
          <p:cNvSpPr/>
          <p:nvPr/>
        </p:nvSpPr>
        <p:spPr>
          <a:xfrm>
            <a:off x="6546689" y="3744923"/>
            <a:ext cx="480975" cy="288471"/>
          </a:xfrm>
          <a:prstGeom prst="roundRect">
            <a:avLst>
              <a:gd name="adj" fmla="val 3298590"/>
            </a:avLst>
          </a:prstGeom>
          <a:solidFill>
            <a:srgbClr val="EBC9B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6546689" y="3757724"/>
            <a:ext cx="480975" cy="262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95"/>
              </a:lnSpc>
              <a:buNone/>
            </a:pPr>
            <a:r>
              <a:rPr lang="en-US" sz="900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цель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7099102" y="3796233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28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828" dirty="0"/>
          </a:p>
        </p:txBody>
      </p:sp>
      <p:sp>
        <p:nvSpPr>
          <p:cNvPr id="29" name="Text 24"/>
          <p:cNvSpPr/>
          <p:nvPr/>
        </p:nvSpPr>
        <p:spPr>
          <a:xfrm>
            <a:off x="7356277" y="3744923"/>
            <a:ext cx="763153" cy="288471"/>
          </a:xfrm>
          <a:prstGeom prst="roundRect">
            <a:avLst>
              <a:gd name="adj" fmla="val 3298590"/>
            </a:avLst>
          </a:prstGeom>
          <a:solidFill>
            <a:srgbClr val="EBC9B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7356277" y="3757724"/>
            <a:ext cx="763153" cy="2628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95"/>
              </a:lnSpc>
              <a:buNone/>
            </a:pPr>
            <a:r>
              <a:rPr lang="en-US" sz="900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243638" y="4120604"/>
            <a:ext cx="2178844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43"/>
              </a:lnSpc>
              <a:buNone/>
            </a:pPr>
            <a:r>
              <a:rPr lang="en-US" sz="956" i="1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«Агент — это фрилансер, который приносит готовый проект.»</a:t>
            </a:r>
            <a:endParaRPr lang="en-US" sz="956" dirty="0"/>
          </a:p>
        </p:txBody>
      </p:sp>
      <p:sp>
        <p:nvSpPr>
          <p:cNvPr id="32" name="Text 27"/>
          <p:cNvSpPr/>
          <p:nvPr/>
        </p:nvSpPr>
        <p:spPr>
          <a:xfrm>
            <a:off x="8117421" y="4826719"/>
            <a:ext cx="747855" cy="203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kern="0" spc="96" dirty="0">
                <a:solidFill>
                  <a:srgbClr val="4D49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14</a:t>
            </a:r>
            <a:endParaRPr lang="en-US" sz="9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714375" y="-785812"/>
            <a:ext cx="2428875" cy="2428875"/>
          </a:xfrm>
          <a:prstGeom prst="ellipse">
            <a:avLst/>
          </a:prstGeom>
          <a:solidFill>
            <a:srgbClr val="9A8AB5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715250" y="3857625"/>
            <a:ext cx="2000250" cy="2000250"/>
          </a:xfrm>
          <a:prstGeom prst="ellipse">
            <a:avLst/>
          </a:prstGeom>
          <a:solidFill>
            <a:srgbClr val="E0BFC3">
              <a:alpha val="3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514350" y="571500"/>
            <a:ext cx="8629650" cy="203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i="1" kern="0" spc="19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Раздел 04 · Навигация</a:t>
            </a:r>
            <a:endParaRPr lang="en-US" sz="956" dirty="0"/>
          </a:p>
        </p:txBody>
      </p:sp>
      <p:sp>
        <p:nvSpPr>
          <p:cNvPr id="7" name="Text 3"/>
          <p:cNvSpPr/>
          <p:nvPr/>
        </p:nvSpPr>
        <p:spPr>
          <a:xfrm>
            <a:off x="514350" y="957374"/>
            <a:ext cx="514350" cy="17859"/>
          </a:xfrm>
          <a:prstGeom prst="rect">
            <a:avLst/>
          </a:prstGeom>
          <a:solidFill>
            <a:srgbClr val="7A6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14350" y="1195462"/>
            <a:ext cx="8629650" cy="351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Навигация для тех, кто не любит искать</a:t>
            </a:r>
            <a:endParaRPr lang="en-US" sz="2138" dirty="0"/>
          </a:p>
        </p:txBody>
      </p:sp>
      <p:sp>
        <p:nvSpPr>
          <p:cNvPr id="9" name="Text 5"/>
          <p:cNvSpPr/>
          <p:nvPr/>
        </p:nvSpPr>
        <p:spPr>
          <a:xfrm>
            <a:off x="491490" y="1644548"/>
            <a:ext cx="974408" cy="328431"/>
          </a:xfrm>
          <a:prstGeom prst="roundRect">
            <a:avLst>
              <a:gd name="adj" fmla="val 2897252"/>
            </a:avLst>
          </a:prstGeom>
          <a:solidFill>
            <a:srgbClr val="D9CC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14350" y="1657350"/>
            <a:ext cx="928688" cy="3028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85"/>
              </a:lnSpc>
              <a:buNone/>
            </a:pPr>
            <a:r>
              <a:rPr lang="en-US" sz="1350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Chat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557338" y="1723765"/>
            <a:ext cx="3957638" cy="18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956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Классический диалог. До 10 файлов по 50 МБ.</a:t>
            </a:r>
            <a:endParaRPr lang="en-US" sz="956" dirty="0"/>
          </a:p>
        </p:txBody>
      </p:sp>
      <p:sp>
        <p:nvSpPr>
          <p:cNvPr id="12" name="Text 8"/>
          <p:cNvSpPr/>
          <p:nvPr/>
        </p:nvSpPr>
        <p:spPr>
          <a:xfrm>
            <a:off x="491490" y="2047389"/>
            <a:ext cx="974408" cy="357006"/>
          </a:xfrm>
          <a:prstGeom prst="roundRect">
            <a:avLst>
              <a:gd name="adj" fmla="val 2665354"/>
            </a:avLst>
          </a:prstGeom>
          <a:solidFill>
            <a:srgbClr val="EBC9B5"/>
          </a:solidFill>
          <a:ln w="14288">
            <a:solidFill>
              <a:srgbClr val="B8996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14350" y="2060191"/>
            <a:ext cx="928688" cy="3314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85"/>
              </a:lnSpc>
              <a:buNone/>
            </a:pPr>
            <a:r>
              <a:rPr lang="en-US" sz="1350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Agent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557338" y="2140893"/>
            <a:ext cx="3957638" cy="18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956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Вкладка с готовыми сценариями.</a:t>
            </a:r>
            <a:endParaRPr lang="en-US" sz="956" dirty="0"/>
          </a:p>
        </p:txBody>
      </p:sp>
      <p:sp>
        <p:nvSpPr>
          <p:cNvPr id="15" name="Text 11"/>
          <p:cNvSpPr/>
          <p:nvPr/>
        </p:nvSpPr>
        <p:spPr>
          <a:xfrm>
            <a:off x="517922" y="2552328"/>
            <a:ext cx="2428875" cy="1092994"/>
          </a:xfrm>
          <a:prstGeom prst="roundRect">
            <a:avLst>
              <a:gd name="adj" fmla="val 13943"/>
            </a:avLst>
          </a:prstGeom>
          <a:solidFill>
            <a:srgbClr val="FFFFFF">
              <a:alpha val="92000"/>
            </a:srgbClr>
          </a:solidFill>
          <a:ln w="7144">
            <a:solidFill>
              <a:srgbClr val="B8996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78656" y="268448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250" dirty="0"/>
          </a:p>
        </p:txBody>
      </p:sp>
      <p:sp>
        <p:nvSpPr>
          <p:cNvPr id="17" name="Text 13"/>
          <p:cNvSpPr/>
          <p:nvPr/>
        </p:nvSpPr>
        <p:spPr>
          <a:xfrm>
            <a:off x="678656" y="2955950"/>
            <a:ext cx="2107406" cy="18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61"/>
              </a:lnSpc>
              <a:buNone/>
            </a:pPr>
            <a:r>
              <a:rPr lang="en-US" sz="1238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Full-Stack</a:t>
            </a:r>
            <a:endParaRPr lang="en-US" sz="1238" dirty="0"/>
          </a:p>
        </p:txBody>
      </p:sp>
      <p:sp>
        <p:nvSpPr>
          <p:cNvPr id="18" name="Text 14"/>
          <p:cNvSpPr/>
          <p:nvPr/>
        </p:nvSpPr>
        <p:spPr>
          <a:xfrm>
            <a:off x="678656" y="3171602"/>
            <a:ext cx="2217134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44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Разработка сайтов и приложений</a:t>
            </a:r>
            <a:endParaRPr lang="en-US" sz="844" dirty="0"/>
          </a:p>
        </p:txBody>
      </p:sp>
      <p:sp>
        <p:nvSpPr>
          <p:cNvPr id="19" name="Text 15"/>
          <p:cNvSpPr/>
          <p:nvPr/>
        </p:nvSpPr>
        <p:spPr>
          <a:xfrm>
            <a:off x="3082528" y="2552328"/>
            <a:ext cx="2428875" cy="1092994"/>
          </a:xfrm>
          <a:prstGeom prst="roundRect">
            <a:avLst>
              <a:gd name="adj" fmla="val 13943"/>
            </a:avLst>
          </a:prstGeom>
          <a:solidFill>
            <a:srgbClr val="FFFFFF">
              <a:alpha val="92000"/>
            </a:srgbClr>
          </a:solidFill>
          <a:ln w="7144">
            <a:solidFill>
              <a:srgbClr val="B8996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243263" y="268448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2250" dirty="0"/>
          </a:p>
        </p:txBody>
      </p:sp>
      <p:sp>
        <p:nvSpPr>
          <p:cNvPr id="21" name="Text 17"/>
          <p:cNvSpPr/>
          <p:nvPr/>
        </p:nvSpPr>
        <p:spPr>
          <a:xfrm>
            <a:off x="3243263" y="2955950"/>
            <a:ext cx="2107406" cy="18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61"/>
              </a:lnSpc>
              <a:buNone/>
            </a:pPr>
            <a:r>
              <a:rPr lang="en-US" sz="1238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Writing</a:t>
            </a:r>
            <a:endParaRPr lang="en-US" sz="1238" dirty="0"/>
          </a:p>
        </p:txBody>
      </p:sp>
      <p:sp>
        <p:nvSpPr>
          <p:cNvPr id="22" name="Text 18"/>
          <p:cNvSpPr/>
          <p:nvPr/>
        </p:nvSpPr>
        <p:spPr>
          <a:xfrm>
            <a:off x="3243263" y="3171602"/>
            <a:ext cx="2217134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44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Тексты, статьи, сценарии уроков</a:t>
            </a:r>
            <a:endParaRPr lang="en-US" sz="844" dirty="0"/>
          </a:p>
        </p:txBody>
      </p:sp>
      <p:sp>
        <p:nvSpPr>
          <p:cNvPr id="23" name="Text 19"/>
          <p:cNvSpPr/>
          <p:nvPr/>
        </p:nvSpPr>
        <p:spPr>
          <a:xfrm>
            <a:off x="517922" y="3781053"/>
            <a:ext cx="2428875" cy="1092994"/>
          </a:xfrm>
          <a:prstGeom prst="roundRect">
            <a:avLst>
              <a:gd name="adj" fmla="val 13943"/>
            </a:avLst>
          </a:prstGeom>
          <a:solidFill>
            <a:srgbClr val="FFFFFF">
              <a:alpha val="92000"/>
            </a:srgbClr>
          </a:solidFill>
          <a:ln w="7144">
            <a:solidFill>
              <a:srgbClr val="B8996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78656" y="391321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2250" dirty="0"/>
          </a:p>
        </p:txBody>
      </p:sp>
      <p:sp>
        <p:nvSpPr>
          <p:cNvPr id="25" name="Text 21"/>
          <p:cNvSpPr/>
          <p:nvPr/>
        </p:nvSpPr>
        <p:spPr>
          <a:xfrm>
            <a:off x="678656" y="4184675"/>
            <a:ext cx="2107406" cy="18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61"/>
              </a:lnSpc>
              <a:buNone/>
            </a:pPr>
            <a:r>
              <a:rPr lang="en-US" sz="1238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Data Insight</a:t>
            </a:r>
            <a:endParaRPr lang="en-US" sz="1238" dirty="0"/>
          </a:p>
        </p:txBody>
      </p:sp>
      <p:sp>
        <p:nvSpPr>
          <p:cNvPr id="26" name="Text 22"/>
          <p:cNvSpPr/>
          <p:nvPr/>
        </p:nvSpPr>
        <p:spPr>
          <a:xfrm>
            <a:off x="678656" y="4400327"/>
            <a:ext cx="2107406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44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данных</a:t>
            </a:r>
            <a:endParaRPr lang="en-US" sz="844" dirty="0"/>
          </a:p>
        </p:txBody>
      </p:sp>
      <p:sp>
        <p:nvSpPr>
          <p:cNvPr id="27" name="Text 23"/>
          <p:cNvSpPr/>
          <p:nvPr/>
        </p:nvSpPr>
        <p:spPr>
          <a:xfrm>
            <a:off x="3082528" y="3781053"/>
            <a:ext cx="2428875" cy="1092994"/>
          </a:xfrm>
          <a:prstGeom prst="roundRect">
            <a:avLst>
              <a:gd name="adj" fmla="val 13943"/>
            </a:avLst>
          </a:prstGeom>
          <a:solidFill>
            <a:srgbClr val="FFFFFF">
              <a:alpha val="92000"/>
            </a:srgbClr>
          </a:solidFill>
          <a:ln w="7144">
            <a:solidFill>
              <a:srgbClr val="B8996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3243263" y="391321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250" dirty="0"/>
          </a:p>
        </p:txBody>
      </p:sp>
      <p:sp>
        <p:nvSpPr>
          <p:cNvPr id="29" name="Text 25"/>
          <p:cNvSpPr/>
          <p:nvPr/>
        </p:nvSpPr>
        <p:spPr>
          <a:xfrm>
            <a:off x="3243263" y="4184675"/>
            <a:ext cx="2107406" cy="18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61"/>
              </a:lnSpc>
              <a:buNone/>
            </a:pPr>
            <a:r>
              <a:rPr lang="en-US" sz="1238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Slide/Poster</a:t>
            </a:r>
            <a:endParaRPr lang="en-US" sz="1238" dirty="0"/>
          </a:p>
        </p:txBody>
      </p:sp>
      <p:sp>
        <p:nvSpPr>
          <p:cNvPr id="30" name="Text 26"/>
          <p:cNvSpPr/>
          <p:nvPr/>
        </p:nvSpPr>
        <p:spPr>
          <a:xfrm>
            <a:off x="3243263" y="4400327"/>
            <a:ext cx="2217134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44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Генерация презентаций и постеров</a:t>
            </a:r>
            <a:endParaRPr lang="en-US" sz="844" dirty="0"/>
          </a:p>
        </p:txBody>
      </p:sp>
      <p:pic>
        <p:nvPicPr>
          <p:cNvPr id="31" name="Image 2" descr="/tmp/h2p-fit-1790420004401-asap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50" y="1657350"/>
            <a:ext cx="3086100" cy="2943225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420106" y="4672013"/>
            <a:ext cx="3332988" cy="17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43"/>
              </a:lnSpc>
              <a:buNone/>
            </a:pPr>
            <a:r>
              <a:rPr lang="en-US" sz="956" i="1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«Если растерялись — вы не один.»</a:t>
            </a:r>
            <a:endParaRPr lang="en-US" sz="956" dirty="0"/>
          </a:p>
        </p:txBody>
      </p:sp>
      <p:sp>
        <p:nvSpPr>
          <p:cNvPr id="33" name="Text 28"/>
          <p:cNvSpPr/>
          <p:nvPr/>
        </p:nvSpPr>
        <p:spPr>
          <a:xfrm>
            <a:off x="8117421" y="4826719"/>
            <a:ext cx="747855" cy="203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kern="0" spc="96" dirty="0">
                <a:solidFill>
                  <a:srgbClr val="4D49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14</a:t>
            </a:r>
            <a:endParaRPr lang="en-US" sz="9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00938" y="-785812"/>
            <a:ext cx="2428875" cy="2428875"/>
          </a:xfrm>
          <a:prstGeom prst="ellipse">
            <a:avLst/>
          </a:prstGeom>
          <a:solidFill>
            <a:srgbClr val="D4B98C">
              <a:alpha val="5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514350" y="457200"/>
            <a:ext cx="8629650" cy="203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i="1" kern="0" spc="19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Раздел 05 · Польза</a:t>
            </a:r>
            <a:endParaRPr lang="en-US" sz="956" dirty="0"/>
          </a:p>
        </p:txBody>
      </p:sp>
      <p:sp>
        <p:nvSpPr>
          <p:cNvPr id="6" name="Text 2"/>
          <p:cNvSpPr/>
          <p:nvPr/>
        </p:nvSpPr>
        <p:spPr>
          <a:xfrm>
            <a:off x="514350" y="716831"/>
            <a:ext cx="514350" cy="17859"/>
          </a:xfrm>
          <a:prstGeom prst="rect">
            <a:avLst/>
          </a:prstGeom>
          <a:solidFill>
            <a:srgbClr val="7A6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514350" y="806128"/>
            <a:ext cx="8629650" cy="351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От «ещё один урок» до «вау, как интересно»</a:t>
            </a:r>
            <a:endParaRPr lang="en-US" sz="2138" dirty="0"/>
          </a:p>
        </p:txBody>
      </p:sp>
      <p:sp>
        <p:nvSpPr>
          <p:cNvPr id="8" name="Text 4"/>
          <p:cNvSpPr/>
          <p:nvPr/>
        </p:nvSpPr>
        <p:spPr>
          <a:xfrm>
            <a:off x="517922" y="1539478"/>
            <a:ext cx="1925241" cy="1798662"/>
          </a:xfrm>
          <a:prstGeom prst="roundRect">
            <a:avLst>
              <a:gd name="adj" fmla="val 9532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3D3A3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1700213"/>
            <a:ext cx="428625" cy="4286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7234" y="1748790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678656" y="2228850"/>
            <a:ext cx="1603772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238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Игра по видео</a:t>
            </a:r>
            <a:endParaRPr lang="en-US" sz="1238" dirty="0"/>
          </a:p>
        </p:txBody>
      </p:sp>
      <p:sp>
        <p:nvSpPr>
          <p:cNvPr id="12" name="Text 7"/>
          <p:cNvSpPr/>
          <p:nvPr/>
        </p:nvSpPr>
        <p:spPr>
          <a:xfrm>
            <a:off x="678656" y="2474528"/>
            <a:ext cx="1603772" cy="7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Загружаете mp4, пишете: «Останови на 0:58 и задай вопрос». Получаете готовый HTML-файл.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2578894" y="1539478"/>
            <a:ext cx="1925241" cy="1798662"/>
          </a:xfrm>
          <a:prstGeom prst="roundRect">
            <a:avLst>
              <a:gd name="adj" fmla="val 9532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3D3A3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9628" y="1700213"/>
            <a:ext cx="428625" cy="4286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788206" y="1748790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250" dirty="0"/>
          </a:p>
        </p:txBody>
      </p:sp>
      <p:sp>
        <p:nvSpPr>
          <p:cNvPr id="16" name="Text 10"/>
          <p:cNvSpPr/>
          <p:nvPr/>
        </p:nvSpPr>
        <p:spPr>
          <a:xfrm>
            <a:off x="2739628" y="2228850"/>
            <a:ext cx="1603772" cy="406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238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Презентация за 5 минут</a:t>
            </a:r>
            <a:endParaRPr lang="en-US" sz="1238" dirty="0"/>
          </a:p>
        </p:txBody>
      </p:sp>
      <p:sp>
        <p:nvSpPr>
          <p:cNvPr id="17" name="Text 11"/>
          <p:cNvSpPr/>
          <p:nvPr/>
        </p:nvSpPr>
        <p:spPr>
          <a:xfrm>
            <a:off x="2739628" y="2663056"/>
            <a:ext cx="160377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Slide/Poster Agent собирает слайды по теме — от заголовка до финала.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639866" y="1539478"/>
            <a:ext cx="1925241" cy="1798662"/>
          </a:xfrm>
          <a:prstGeom prst="roundRect">
            <a:avLst>
              <a:gd name="adj" fmla="val 9532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3D3A3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1700213"/>
            <a:ext cx="428625" cy="4286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49178" y="1748790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250" dirty="0"/>
          </a:p>
        </p:txBody>
      </p:sp>
      <p:sp>
        <p:nvSpPr>
          <p:cNvPr id="21" name="Text 14"/>
          <p:cNvSpPr/>
          <p:nvPr/>
        </p:nvSpPr>
        <p:spPr>
          <a:xfrm>
            <a:off x="4800600" y="2228850"/>
            <a:ext cx="1603772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238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Проверка работ</a:t>
            </a:r>
            <a:endParaRPr lang="en-US" sz="1238" dirty="0"/>
          </a:p>
        </p:txBody>
      </p:sp>
      <p:sp>
        <p:nvSpPr>
          <p:cNvPr id="22" name="Text 15"/>
          <p:cNvSpPr/>
          <p:nvPr/>
        </p:nvSpPr>
        <p:spPr>
          <a:xfrm>
            <a:off x="4800600" y="2474528"/>
            <a:ext cx="1603772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Загружаете фото, агент находит ошибки и объясняет пошагово.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6700838" y="1539478"/>
            <a:ext cx="1925241" cy="1798662"/>
          </a:xfrm>
          <a:prstGeom prst="roundRect">
            <a:avLst>
              <a:gd name="adj" fmla="val 9532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3D3A3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572" y="1700213"/>
            <a:ext cx="428625" cy="42862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10149" y="1748790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50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2250" dirty="0"/>
          </a:p>
        </p:txBody>
      </p:sp>
      <p:sp>
        <p:nvSpPr>
          <p:cNvPr id="26" name="Text 18"/>
          <p:cNvSpPr/>
          <p:nvPr/>
        </p:nvSpPr>
        <p:spPr>
          <a:xfrm>
            <a:off x="6861572" y="2228850"/>
            <a:ext cx="1603772" cy="406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238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Автоматизация рутины</a:t>
            </a:r>
            <a:endParaRPr lang="en-US" sz="1238" dirty="0"/>
          </a:p>
        </p:txBody>
      </p:sp>
      <p:sp>
        <p:nvSpPr>
          <p:cNvPr id="27" name="Text 19"/>
          <p:cNvSpPr/>
          <p:nvPr/>
        </p:nvSpPr>
        <p:spPr>
          <a:xfrm>
            <a:off x="6861572" y="2663056"/>
            <a:ext cx="160377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Тесты, карточки, рабочие листы — за минуты, а не за вечер.</a:t>
            </a:r>
            <a:endParaRPr lang="en-US" sz="900" dirty="0"/>
          </a:p>
        </p:txBody>
      </p:sp>
      <p:pic>
        <p:nvPicPr>
          <p:cNvPr id="28" name="Image 6" descr="/tmp/h2p-fit-1790420004413-28bim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" y="3814763"/>
            <a:ext cx="8115300" cy="785813"/>
          </a:xfrm>
          <a:prstGeom prst="rect">
            <a:avLst/>
          </a:prstGeom>
        </p:spPr>
      </p:pic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" y="3814763"/>
            <a:ext cx="8115300" cy="785813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14350" y="3814763"/>
            <a:ext cx="8115300" cy="785813"/>
          </a:xfrm>
          <a:prstGeom prst="rect">
            <a:avLst/>
          </a:prstGeom>
          <a:noFill/>
          <a:ln/>
          <a:effectLst>
            <a:outerShdw blurRad="57150" dist="9525" dir="5400000" algn="bl" rotWithShape="0">
              <a:srgbClr val="FFFFFF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69"/>
              </a:lnSpc>
              <a:buNone/>
            </a:pPr>
            <a:r>
              <a:rPr lang="en-US" sz="1013" i="1" kern="0" spc="5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«Z.ai не заменит вас. Он заменит вашу усталость.»</a:t>
            </a:r>
            <a:endParaRPr lang="en-US" sz="1013" dirty="0"/>
          </a:p>
        </p:txBody>
      </p:sp>
      <p:sp>
        <p:nvSpPr>
          <p:cNvPr id="31" name="Text 21"/>
          <p:cNvSpPr/>
          <p:nvPr/>
        </p:nvSpPr>
        <p:spPr>
          <a:xfrm>
            <a:off x="8207834" y="4731395"/>
            <a:ext cx="615192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kern="0" spc="79" dirty="0">
                <a:solidFill>
                  <a:srgbClr val="4D49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785812" y="3500438"/>
            <a:ext cx="2571750" cy="2571750"/>
          </a:xfrm>
          <a:prstGeom prst="ellipse">
            <a:avLst/>
          </a:prstGeom>
          <a:solidFill>
            <a:srgbClr val="9A8AB5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514350" y="457200"/>
            <a:ext cx="8629650" cy="203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i="1" kern="0" spc="19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Раздел 06 · Старт</a:t>
            </a:r>
            <a:endParaRPr lang="en-US" sz="956" dirty="0"/>
          </a:p>
        </p:txBody>
      </p:sp>
      <p:sp>
        <p:nvSpPr>
          <p:cNvPr id="6" name="Text 2"/>
          <p:cNvSpPr/>
          <p:nvPr/>
        </p:nvSpPr>
        <p:spPr>
          <a:xfrm>
            <a:off x="514350" y="716831"/>
            <a:ext cx="514350" cy="17859"/>
          </a:xfrm>
          <a:prstGeom prst="rect">
            <a:avLst/>
          </a:prstGeom>
          <a:solidFill>
            <a:srgbClr val="7A6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514350" y="806128"/>
            <a:ext cx="8629650" cy="388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363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Открыть. Попробовать. Удивиться.</a:t>
            </a:r>
            <a:endParaRPr lang="en-US" sz="2363" dirty="0"/>
          </a:p>
        </p:txBody>
      </p:sp>
      <p:sp>
        <p:nvSpPr>
          <p:cNvPr id="8" name="Text 4"/>
          <p:cNvSpPr/>
          <p:nvPr/>
        </p:nvSpPr>
        <p:spPr>
          <a:xfrm>
            <a:off x="517922" y="1103709"/>
            <a:ext cx="5119167" cy="1193006"/>
          </a:xfrm>
          <a:prstGeom prst="roundRect">
            <a:avLst>
              <a:gd name="adj" fmla="val 14371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3D3A3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12059" y="1471613"/>
            <a:ext cx="828995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i="1" dirty="0">
                <a:solidFill>
                  <a:srgbClr val="7A62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1335881" y="1480765"/>
            <a:ext cx="4154760" cy="222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Откройте chat.z.ai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335881" y="1743633"/>
            <a:ext cx="4264488" cy="190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7"/>
              </a:lnSpc>
              <a:buNone/>
            </a:pPr>
            <a:r>
              <a:rPr lang="en-US" sz="956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регистрации, без VPN, прямо в браузере.</a:t>
            </a:r>
            <a:endParaRPr lang="en-US" sz="956" dirty="0"/>
          </a:p>
        </p:txBody>
      </p:sp>
      <p:sp>
        <p:nvSpPr>
          <p:cNvPr id="12" name="Text 8"/>
          <p:cNvSpPr/>
          <p:nvPr/>
        </p:nvSpPr>
        <p:spPr>
          <a:xfrm>
            <a:off x="746522" y="2489597"/>
            <a:ext cx="5119167" cy="1193006"/>
          </a:xfrm>
          <a:prstGeom prst="roundRect">
            <a:avLst>
              <a:gd name="adj" fmla="val 14371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3D3A3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840659" y="2857500"/>
            <a:ext cx="828995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i="1" dirty="0">
                <a:solidFill>
                  <a:srgbClr val="7A62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1564481" y="2866653"/>
            <a:ext cx="4264488" cy="222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Попробуйте простую задачу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564481" y="3129521"/>
            <a:ext cx="4154760" cy="190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7"/>
              </a:lnSpc>
              <a:buNone/>
            </a:pPr>
            <a:r>
              <a:rPr lang="en-US" sz="956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Например: «Сделай игру-викторину по теме Клетка».</a:t>
            </a:r>
            <a:endParaRPr lang="en-US" sz="956" dirty="0"/>
          </a:p>
        </p:txBody>
      </p:sp>
      <p:sp>
        <p:nvSpPr>
          <p:cNvPr id="16" name="Text 12"/>
          <p:cNvSpPr/>
          <p:nvPr/>
        </p:nvSpPr>
        <p:spPr>
          <a:xfrm>
            <a:off x="975122" y="3875484"/>
            <a:ext cx="5119167" cy="1193006"/>
          </a:xfrm>
          <a:prstGeom prst="roundRect">
            <a:avLst>
              <a:gd name="adj" fmla="val 14371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3D3A3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568428" y="3725466"/>
            <a:ext cx="1575867" cy="207169"/>
          </a:xfrm>
          <a:prstGeom prst="roundRect">
            <a:avLst>
              <a:gd name="adj" fmla="val 4593098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B89968"/>
            </a:solidFill>
            <a:prstDash val="solid"/>
          </a:ln>
          <a:effectLst>
            <a:outerShdw blurRad="114300" dist="38100" dir="5400000" algn="bl" rotWithShape="0">
              <a:srgbClr val="3D3A3A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657725" y="37647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266" dirty="0"/>
          </a:p>
        </p:txBody>
      </p:sp>
      <p:sp>
        <p:nvSpPr>
          <p:cNvPr id="20" name="Text 16"/>
          <p:cNvSpPr/>
          <p:nvPr/>
        </p:nvSpPr>
        <p:spPr>
          <a:xfrm>
            <a:off x="1069259" y="4243388"/>
            <a:ext cx="828995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i="1" dirty="0">
                <a:solidFill>
                  <a:srgbClr val="7A62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3600" dirty="0"/>
          </a:p>
        </p:txBody>
      </p:sp>
      <p:sp>
        <p:nvSpPr>
          <p:cNvPr id="21" name="Text 17"/>
          <p:cNvSpPr/>
          <p:nvPr/>
        </p:nvSpPr>
        <p:spPr>
          <a:xfrm>
            <a:off x="1793081" y="4252540"/>
            <a:ext cx="4264488" cy="222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Загрузите файл и работайте с агентом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1793081" y="4515408"/>
            <a:ext cx="4154760" cy="190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7"/>
              </a:lnSpc>
              <a:buNone/>
            </a:pPr>
            <a:r>
              <a:rPr lang="en-US" sz="956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Дальше — полный сценарий: проверка, генерация, анализ.</a:t>
            </a:r>
            <a:endParaRPr lang="en-US" sz="956" dirty="0"/>
          </a:p>
        </p:txBody>
      </p:sp>
      <p:pic>
        <p:nvPicPr>
          <p:cNvPr id="23" name="Image 2" descr="/tmp/h2p-fit-1790420004429-jcerbj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260" y="1571625"/>
            <a:ext cx="2760390" cy="25889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869260" y="4260577"/>
            <a:ext cx="2760390" cy="367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39"/>
              </a:lnSpc>
              <a:buNone/>
            </a:pPr>
            <a:r>
              <a:rPr lang="en-US" sz="956" i="1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Три шага. Один урок. Двадцать минут — вместо трёх часов.</a:t>
            </a:r>
            <a:endParaRPr lang="en-US" sz="956" dirty="0"/>
          </a:p>
        </p:txBody>
      </p:sp>
      <p:sp>
        <p:nvSpPr>
          <p:cNvPr id="25" name="Text 20"/>
          <p:cNvSpPr/>
          <p:nvPr/>
        </p:nvSpPr>
        <p:spPr>
          <a:xfrm>
            <a:off x="8207834" y="4731395"/>
            <a:ext cx="615192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kern="0" spc="79" dirty="0">
                <a:solidFill>
                  <a:srgbClr val="4D49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14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829175" y="3775472"/>
            <a:ext cx="1225823" cy="115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44" i="1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Готовый урок за 20 минут</a:t>
            </a:r>
            <a:endParaRPr lang="en-US" sz="84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215188" y="-714375"/>
            <a:ext cx="2714625" cy="2714625"/>
          </a:xfrm>
          <a:prstGeom prst="ellipse">
            <a:avLst/>
          </a:prstGeom>
          <a:solidFill>
            <a:srgbClr val="D4B98C">
              <a:alpha val="5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514350" y="364443"/>
            <a:ext cx="4970633" cy="203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i="1" kern="0" spc="19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Раздел 07 · Философия</a:t>
            </a:r>
            <a:endParaRPr lang="en-US" sz="956" dirty="0"/>
          </a:p>
        </p:txBody>
      </p:sp>
      <p:sp>
        <p:nvSpPr>
          <p:cNvPr id="6" name="Text 2"/>
          <p:cNvSpPr/>
          <p:nvPr/>
        </p:nvSpPr>
        <p:spPr>
          <a:xfrm>
            <a:off x="514350" y="624074"/>
            <a:ext cx="514350" cy="17859"/>
          </a:xfrm>
          <a:prstGeom prst="rect">
            <a:avLst/>
          </a:prstGeom>
          <a:solidFill>
            <a:srgbClr val="7A6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514350" y="741945"/>
            <a:ext cx="4000500" cy="1222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475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Не заменяет учителя. Освобождает время для главного</a:t>
            </a:r>
            <a:endParaRPr lang="en-US" sz="2475" dirty="0"/>
          </a:p>
        </p:txBody>
      </p:sp>
      <p:sp>
        <p:nvSpPr>
          <p:cNvPr id="8" name="Text 4"/>
          <p:cNvSpPr/>
          <p:nvPr/>
        </p:nvSpPr>
        <p:spPr>
          <a:xfrm>
            <a:off x="514350" y="2073473"/>
            <a:ext cx="3857625" cy="144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10"/>
              </a:lnSpc>
              <a:buNone/>
            </a:pPr>
            <a:r>
              <a:rPr lang="en-US" sz="2700" i="1" kern="0" spc="14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«Попробуйте сегодня. Один урок. Одно задание. Одна игра.»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521494" y="3632039"/>
            <a:ext cx="1943100" cy="519931"/>
          </a:xfrm>
          <a:prstGeom prst="roundRect">
            <a:avLst>
              <a:gd name="adj" fmla="val 25648"/>
            </a:avLst>
          </a:prstGeom>
          <a:solidFill>
            <a:srgbClr val="FFFFFF">
              <a:alpha val="55000"/>
            </a:srgbClr>
          </a:solidFill>
          <a:ln w="14288">
            <a:solidFill>
              <a:srgbClr val="7A623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14350" y="3624895"/>
            <a:ext cx="1957388" cy="576956"/>
          </a:xfrm>
          <a:prstGeom prst="rect">
            <a:avLst/>
          </a:prstGeom>
          <a:noFill/>
          <a:ln/>
        </p:spPr>
        <p:txBody>
          <a:bodyPr wrap="square" lIns="142875" tIns="85725" rIns="142875" bIns="85725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i="1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Z.ai не учит детей — он помогает вам учить лучше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2564606" y="3632039"/>
            <a:ext cx="1943100" cy="519931"/>
          </a:xfrm>
          <a:prstGeom prst="roundRect">
            <a:avLst>
              <a:gd name="adj" fmla="val 25648"/>
            </a:avLst>
          </a:prstGeom>
          <a:solidFill>
            <a:srgbClr val="FFFFFF">
              <a:alpha val="55000"/>
            </a:srgbClr>
          </a:solidFill>
          <a:ln w="14288">
            <a:solidFill>
              <a:srgbClr val="7A623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2557463" y="3624895"/>
            <a:ext cx="1957388" cy="576956"/>
          </a:xfrm>
          <a:prstGeom prst="rect">
            <a:avLst/>
          </a:prstGeom>
          <a:noFill/>
          <a:ln/>
        </p:spPr>
        <p:txBody>
          <a:bodyPr wrap="none" lIns="142875" tIns="85725" rIns="142875" bIns="85725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i="1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Берёт на себя рутину</a:t>
            </a:r>
            <a:endParaRPr lang="en-US" sz="1013" dirty="0"/>
          </a:p>
        </p:txBody>
      </p:sp>
      <p:sp>
        <p:nvSpPr>
          <p:cNvPr id="13" name="Text 9"/>
          <p:cNvSpPr/>
          <p:nvPr/>
        </p:nvSpPr>
        <p:spPr>
          <a:xfrm>
            <a:off x="521494" y="4251982"/>
            <a:ext cx="1943100" cy="519931"/>
          </a:xfrm>
          <a:prstGeom prst="roundRect">
            <a:avLst>
              <a:gd name="adj" fmla="val 25648"/>
            </a:avLst>
          </a:prstGeom>
          <a:solidFill>
            <a:srgbClr val="FFFFFF">
              <a:alpha val="55000"/>
            </a:srgbClr>
          </a:solidFill>
          <a:ln w="14288">
            <a:solidFill>
              <a:srgbClr val="7A623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14350" y="4244839"/>
            <a:ext cx="1957388" cy="576956"/>
          </a:xfrm>
          <a:prstGeom prst="rect">
            <a:avLst/>
          </a:prstGeom>
          <a:noFill/>
          <a:ln/>
        </p:spPr>
        <p:txBody>
          <a:bodyPr wrap="square" lIns="142875" tIns="85725" rIns="142875" bIns="85725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i="1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Освобождает время для живого общения</a:t>
            </a:r>
            <a:endParaRPr lang="en-US" sz="1013" dirty="0"/>
          </a:p>
        </p:txBody>
      </p:sp>
      <p:sp>
        <p:nvSpPr>
          <p:cNvPr id="15" name="Text 11"/>
          <p:cNvSpPr/>
          <p:nvPr/>
        </p:nvSpPr>
        <p:spPr>
          <a:xfrm>
            <a:off x="2564606" y="4251982"/>
            <a:ext cx="1943100" cy="519931"/>
          </a:xfrm>
          <a:prstGeom prst="roundRect">
            <a:avLst>
              <a:gd name="adj" fmla="val 25648"/>
            </a:avLst>
          </a:prstGeom>
          <a:solidFill>
            <a:srgbClr val="FFFFFF">
              <a:alpha val="55000"/>
            </a:srgbClr>
          </a:solidFill>
          <a:ln w="14288">
            <a:solidFill>
              <a:srgbClr val="7A623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557463" y="4244839"/>
            <a:ext cx="1957388" cy="576956"/>
          </a:xfrm>
          <a:prstGeom prst="rect">
            <a:avLst/>
          </a:prstGeom>
          <a:noFill/>
          <a:ln/>
        </p:spPr>
        <p:txBody>
          <a:bodyPr wrap="square" lIns="142875" tIns="85725" rIns="142875" bIns="85725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13" i="1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Бесплатно и работает из России</a:t>
            </a:r>
            <a:endParaRPr lang="en-US" sz="1013" dirty="0"/>
          </a:p>
        </p:txBody>
      </p:sp>
      <p:pic>
        <p:nvPicPr>
          <p:cNvPr id="17" name="Image 2" descr="/tmp/h2p-fit-1790420004621-r8qft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132" y="571500"/>
            <a:ext cx="3785518" cy="40005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07834" y="4731395"/>
            <a:ext cx="615192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kern="0" spc="79" dirty="0">
                <a:solidFill>
                  <a:srgbClr val="4D49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0" y="-857250"/>
            <a:ext cx="2571750" cy="2571750"/>
          </a:xfrm>
          <a:prstGeom prst="ellipse">
            <a:avLst/>
          </a:prstGeom>
          <a:solidFill>
            <a:srgbClr val="D4B98C">
              <a:alpha val="5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514350" y="144438"/>
            <a:ext cx="5374958" cy="203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i="1" kern="0" spc="19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Раздел 08 · Экосистема</a:t>
            </a:r>
            <a:endParaRPr lang="en-US" sz="956" dirty="0"/>
          </a:p>
        </p:txBody>
      </p:sp>
      <p:sp>
        <p:nvSpPr>
          <p:cNvPr id="6" name="Text 2"/>
          <p:cNvSpPr/>
          <p:nvPr/>
        </p:nvSpPr>
        <p:spPr>
          <a:xfrm>
            <a:off x="514350" y="475506"/>
            <a:ext cx="5029200" cy="777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363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Несколько моделей под одной крышей</a:t>
            </a:r>
            <a:endParaRPr lang="en-US" sz="2363" dirty="0"/>
          </a:p>
        </p:txBody>
      </p:sp>
      <p:sp>
        <p:nvSpPr>
          <p:cNvPr id="7" name="Text 3"/>
          <p:cNvSpPr/>
          <p:nvPr/>
        </p:nvSpPr>
        <p:spPr>
          <a:xfrm>
            <a:off x="514350" y="1295474"/>
            <a:ext cx="4429125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38352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Z.ai — это не одна нейросеть, а целая линейка моделей и инструментов. Вы выбираете под задачу.</a:t>
            </a:r>
            <a:endParaRPr lang="en-US" sz="1125" dirty="0"/>
          </a:p>
        </p:txBody>
      </p:sp>
      <p:sp>
        <p:nvSpPr>
          <p:cNvPr id="8" name="Shape 4"/>
          <p:cNvSpPr/>
          <p:nvPr/>
        </p:nvSpPr>
        <p:spPr>
          <a:xfrm>
            <a:off x="514350" y="2351522"/>
            <a:ext cx="4714875" cy="0"/>
          </a:xfrm>
          <a:prstGeom prst="line">
            <a:avLst/>
          </a:prstGeom>
          <a:noFill/>
          <a:ln w="7144">
            <a:solidFill>
              <a:srgbClr val="B8996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4350" y="1924124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10" name="Text 6"/>
          <p:cNvSpPr/>
          <p:nvPr/>
        </p:nvSpPr>
        <p:spPr>
          <a:xfrm>
            <a:off x="885825" y="1909837"/>
            <a:ext cx="4343400" cy="189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238" dirty="0">
                <a:solidFill>
                  <a:srgbClr val="2A282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GLM-5</a:t>
            </a:r>
            <a:endParaRPr lang="en-US" sz="1238" dirty="0"/>
          </a:p>
        </p:txBody>
      </p:sp>
      <p:sp>
        <p:nvSpPr>
          <p:cNvPr id="11" name="Text 7"/>
          <p:cNvSpPr/>
          <p:nvPr/>
        </p:nvSpPr>
        <p:spPr>
          <a:xfrm>
            <a:off x="885825" y="2126940"/>
            <a:ext cx="3152626" cy="16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1"/>
              </a:lnSpc>
              <a:buNone/>
            </a:pPr>
            <a:r>
              <a:rPr lang="en-US" sz="956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Флагман для текста, рассуждений и логических задач</a:t>
            </a:r>
            <a:endParaRPr lang="en-US" sz="956" dirty="0"/>
          </a:p>
        </p:txBody>
      </p:sp>
      <p:sp>
        <p:nvSpPr>
          <p:cNvPr id="12" name="Shape 8"/>
          <p:cNvSpPr/>
          <p:nvPr/>
        </p:nvSpPr>
        <p:spPr>
          <a:xfrm>
            <a:off x="514350" y="2939653"/>
            <a:ext cx="4714875" cy="0"/>
          </a:xfrm>
          <a:prstGeom prst="line">
            <a:avLst/>
          </a:prstGeom>
          <a:noFill/>
          <a:ln w="7144">
            <a:solidFill>
              <a:srgbClr val="B8996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4350" y="2512256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969" dirty="0"/>
          </a:p>
        </p:txBody>
      </p:sp>
      <p:sp>
        <p:nvSpPr>
          <p:cNvPr id="14" name="Text 10"/>
          <p:cNvSpPr/>
          <p:nvPr/>
        </p:nvSpPr>
        <p:spPr>
          <a:xfrm>
            <a:off x="885825" y="2497968"/>
            <a:ext cx="4131231" cy="189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238" dirty="0">
                <a:solidFill>
                  <a:srgbClr val="2A282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GLM-4.5</a:t>
            </a:r>
            <a:endParaRPr lang="en-US" sz="1238" dirty="0"/>
          </a:p>
        </p:txBody>
      </p:sp>
      <p:sp>
        <p:nvSpPr>
          <p:cNvPr id="15" name="Text 11"/>
          <p:cNvSpPr/>
          <p:nvPr/>
        </p:nvSpPr>
        <p:spPr>
          <a:xfrm>
            <a:off x="885825" y="2715071"/>
            <a:ext cx="3227524" cy="16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1"/>
              </a:lnSpc>
              <a:buNone/>
            </a:pPr>
            <a:r>
              <a:rPr lang="en-US" sz="956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Предшественник GLM-5, всё ещё активно используется</a:t>
            </a:r>
            <a:endParaRPr lang="en-US" sz="956" dirty="0"/>
          </a:p>
        </p:txBody>
      </p:sp>
      <p:sp>
        <p:nvSpPr>
          <p:cNvPr id="16" name="Shape 12"/>
          <p:cNvSpPr/>
          <p:nvPr/>
        </p:nvSpPr>
        <p:spPr>
          <a:xfrm>
            <a:off x="514350" y="3527785"/>
            <a:ext cx="4714875" cy="0"/>
          </a:xfrm>
          <a:prstGeom prst="line">
            <a:avLst/>
          </a:prstGeom>
          <a:noFill/>
          <a:ln w="7144">
            <a:solidFill>
              <a:srgbClr val="B8996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4350" y="3100388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18" name="Text 14"/>
          <p:cNvSpPr/>
          <p:nvPr/>
        </p:nvSpPr>
        <p:spPr>
          <a:xfrm>
            <a:off x="885825" y="3086100"/>
            <a:ext cx="3499656" cy="189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238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Агент для кода</a:t>
            </a:r>
            <a:endParaRPr lang="en-US" sz="1238" dirty="0"/>
          </a:p>
        </p:txBody>
      </p:sp>
      <p:sp>
        <p:nvSpPr>
          <p:cNvPr id="19" name="Text 15"/>
          <p:cNvSpPr/>
          <p:nvPr/>
        </p:nvSpPr>
        <p:spPr>
          <a:xfrm>
            <a:off x="885825" y="3303203"/>
            <a:ext cx="3333006" cy="16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1"/>
              </a:lnSpc>
              <a:buNone/>
            </a:pPr>
            <a:r>
              <a:rPr lang="en-US" sz="956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Самостоятельно пишет, запускает и отлаживает скрипты</a:t>
            </a:r>
            <a:endParaRPr lang="en-US" sz="956" dirty="0"/>
          </a:p>
        </p:txBody>
      </p:sp>
      <p:sp>
        <p:nvSpPr>
          <p:cNvPr id="20" name="Shape 16"/>
          <p:cNvSpPr/>
          <p:nvPr/>
        </p:nvSpPr>
        <p:spPr>
          <a:xfrm>
            <a:off x="514350" y="4115916"/>
            <a:ext cx="4714875" cy="0"/>
          </a:xfrm>
          <a:prstGeom prst="line">
            <a:avLst/>
          </a:prstGeom>
          <a:noFill/>
          <a:ln w="7144">
            <a:solidFill>
              <a:srgbClr val="B8996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4350" y="3688519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22" name="Text 18"/>
          <p:cNvSpPr/>
          <p:nvPr/>
        </p:nvSpPr>
        <p:spPr>
          <a:xfrm>
            <a:off x="885825" y="3674232"/>
            <a:ext cx="2902277" cy="189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238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Slide/Poster Agent</a:t>
            </a:r>
            <a:endParaRPr lang="en-US" sz="1238" dirty="0"/>
          </a:p>
        </p:txBody>
      </p:sp>
      <p:sp>
        <p:nvSpPr>
          <p:cNvPr id="23" name="Text 19"/>
          <p:cNvSpPr/>
          <p:nvPr/>
        </p:nvSpPr>
        <p:spPr>
          <a:xfrm>
            <a:off x="885825" y="3891335"/>
            <a:ext cx="2985199" cy="16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1"/>
              </a:lnSpc>
              <a:buNone/>
            </a:pPr>
            <a:r>
              <a:rPr lang="en-US" sz="956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Собирает презентации и постеры по описанию</a:t>
            </a:r>
            <a:endParaRPr lang="en-US" sz="956" dirty="0"/>
          </a:p>
        </p:txBody>
      </p:sp>
      <p:sp>
        <p:nvSpPr>
          <p:cNvPr id="24" name="Text 20"/>
          <p:cNvSpPr/>
          <p:nvPr/>
        </p:nvSpPr>
        <p:spPr>
          <a:xfrm>
            <a:off x="514350" y="4276651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969" dirty="0"/>
          </a:p>
        </p:txBody>
      </p:sp>
      <p:sp>
        <p:nvSpPr>
          <p:cNvPr id="25" name="Text 21"/>
          <p:cNvSpPr/>
          <p:nvPr/>
        </p:nvSpPr>
        <p:spPr>
          <a:xfrm>
            <a:off x="885825" y="4262363"/>
            <a:ext cx="2368890" cy="189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238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Мультимодальность</a:t>
            </a:r>
            <a:endParaRPr lang="en-US" sz="1238" dirty="0"/>
          </a:p>
        </p:txBody>
      </p:sp>
      <p:sp>
        <p:nvSpPr>
          <p:cNvPr id="26" name="Text 22"/>
          <p:cNvSpPr/>
          <p:nvPr/>
        </p:nvSpPr>
        <p:spPr>
          <a:xfrm>
            <a:off x="885825" y="4479466"/>
            <a:ext cx="2436572" cy="17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1"/>
              </a:lnSpc>
              <a:buNone/>
            </a:pPr>
            <a:r>
              <a:rPr lang="en-US" sz="956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Понимает текст, изображения и видео</a:t>
            </a:r>
            <a:endParaRPr lang="en-US" sz="956" dirty="0"/>
          </a:p>
        </p:txBody>
      </p:sp>
      <p:sp>
        <p:nvSpPr>
          <p:cNvPr id="27" name="Text 23"/>
          <p:cNvSpPr/>
          <p:nvPr/>
        </p:nvSpPr>
        <p:spPr>
          <a:xfrm>
            <a:off x="514350" y="4829063"/>
            <a:ext cx="4714875" cy="18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956" i="1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Все модели доступны в одном окне — chat.z.ai. Переключаться не нужно.</a:t>
            </a:r>
            <a:endParaRPr lang="en-US" sz="956" dirty="0"/>
          </a:p>
        </p:txBody>
      </p:sp>
      <p:pic>
        <p:nvPicPr>
          <p:cNvPr id="28" name="Image 2" descr="/tmp/h2p-fit-1790420010382-rqrhg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714375"/>
            <a:ext cx="3143250" cy="371475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207834" y="4731395"/>
            <a:ext cx="615192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kern="0" spc="79" dirty="0">
                <a:solidFill>
                  <a:srgbClr val="4D49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58063" y="3429000"/>
            <a:ext cx="2571750" cy="2571750"/>
          </a:xfrm>
          <a:prstGeom prst="ellipse">
            <a:avLst/>
          </a:prstGeom>
          <a:solidFill>
            <a:srgbClr val="E0BFC3">
              <a:alpha val="5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514350" y="457200"/>
            <a:ext cx="8629650" cy="203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i="1" kern="0" spc="19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Раздел 09 · Кейс</a:t>
            </a:r>
            <a:endParaRPr lang="en-US" sz="956" dirty="0"/>
          </a:p>
        </p:txBody>
      </p:sp>
      <p:sp>
        <p:nvSpPr>
          <p:cNvPr id="6" name="Text 2"/>
          <p:cNvSpPr/>
          <p:nvPr/>
        </p:nvSpPr>
        <p:spPr>
          <a:xfrm>
            <a:off x="514350" y="716831"/>
            <a:ext cx="514350" cy="17859"/>
          </a:xfrm>
          <a:prstGeom prst="rect">
            <a:avLst/>
          </a:prstGeom>
          <a:solidFill>
            <a:srgbClr val="7A6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514350" y="806128"/>
            <a:ext cx="8629650" cy="388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363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88% учителей освоили Z.ai за неделю</a:t>
            </a:r>
            <a:endParaRPr lang="en-US" sz="2363" dirty="0"/>
          </a:p>
        </p:txBody>
      </p:sp>
      <p:sp>
        <p:nvSpPr>
          <p:cNvPr id="8" name="Text 4"/>
          <p:cNvSpPr/>
          <p:nvPr/>
        </p:nvSpPr>
        <p:spPr>
          <a:xfrm>
            <a:off x="924446" y="1416472"/>
            <a:ext cx="3104495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7875" kern="0" spc="-157" dirty="0">
                <a:solidFill>
                  <a:srgbClr val="7A62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88%</a:t>
            </a:r>
            <a:endParaRPr lang="en-US" sz="7875" dirty="0"/>
          </a:p>
        </p:txBody>
      </p:sp>
      <p:sp>
        <p:nvSpPr>
          <p:cNvPr id="9" name="Text 5"/>
          <p:cNvSpPr/>
          <p:nvPr/>
        </p:nvSpPr>
        <p:spPr>
          <a:xfrm>
            <a:off x="1637370" y="2516609"/>
            <a:ext cx="514350" cy="17859"/>
          </a:xfrm>
          <a:prstGeom prst="rect">
            <a:avLst/>
          </a:prstGeom>
          <a:solidFill>
            <a:srgbClr val="7A6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1037295" y="2634481"/>
            <a:ext cx="1714500" cy="58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18"/>
              </a:lnSpc>
              <a:buNone/>
            </a:pPr>
            <a:r>
              <a:rPr lang="en-US" sz="1013" dirty="0">
                <a:solidFill>
                  <a:srgbClr val="38352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смогли самостоятельно освоить Z.ai после короткого обучения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2896121" y="1416472"/>
            <a:ext cx="3104495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7875" kern="0" spc="-157" dirty="0">
                <a:solidFill>
                  <a:srgbClr val="B0757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80%</a:t>
            </a:r>
            <a:endParaRPr lang="en-US" sz="7875" dirty="0"/>
          </a:p>
        </p:txBody>
      </p:sp>
      <p:sp>
        <p:nvSpPr>
          <p:cNvPr id="12" name="Text 8"/>
          <p:cNvSpPr/>
          <p:nvPr/>
        </p:nvSpPr>
        <p:spPr>
          <a:xfrm>
            <a:off x="3609045" y="2516609"/>
            <a:ext cx="514350" cy="17859"/>
          </a:xfrm>
          <a:prstGeom prst="rect">
            <a:avLst/>
          </a:prstGeom>
          <a:solidFill>
            <a:srgbClr val="7A6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008970" y="2634481"/>
            <a:ext cx="1714500" cy="582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18"/>
              </a:lnSpc>
              <a:buNone/>
            </a:pPr>
            <a:r>
              <a:rPr lang="en-US" sz="1013" dirty="0">
                <a:solidFill>
                  <a:srgbClr val="38352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завершили минимум одну главу учебного пособия с помощью Z.ai</a:t>
            </a:r>
            <a:endParaRPr lang="en-US" sz="1013" dirty="0"/>
          </a:p>
        </p:txBody>
      </p:sp>
      <p:sp>
        <p:nvSpPr>
          <p:cNvPr id="14" name="Text 10"/>
          <p:cNvSpPr/>
          <p:nvPr/>
        </p:nvSpPr>
        <p:spPr>
          <a:xfrm>
            <a:off x="517922" y="3335015"/>
            <a:ext cx="4724921" cy="1331528"/>
          </a:xfrm>
          <a:prstGeom prst="roundRect">
            <a:avLst>
              <a:gd name="adj" fmla="val 12876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B89968"/>
            </a:solidFill>
            <a:prstDash val="solid"/>
          </a:ln>
          <a:effectLst>
            <a:outerShdw blurRad="228600" dist="76200" dir="5400000" algn="bl" rotWithShape="0">
              <a:srgbClr val="3D3A3A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750094" y="3510037"/>
            <a:ext cx="4260577" cy="776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86"/>
              </a:lnSpc>
              <a:buNone/>
            </a:pPr>
            <a:r>
              <a:rPr lang="en-US" sz="2138" i="1" kern="0" spc="11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«Раньше я тратила выходные на подготовку. Теперь — пару часов.»</a:t>
            </a:r>
            <a:endParaRPr lang="en-US" sz="2138" dirty="0"/>
          </a:p>
        </p:txBody>
      </p:sp>
      <p:sp>
        <p:nvSpPr>
          <p:cNvPr id="16" name="Text 12"/>
          <p:cNvSpPr/>
          <p:nvPr/>
        </p:nvSpPr>
        <p:spPr>
          <a:xfrm>
            <a:off x="750094" y="4314379"/>
            <a:ext cx="4370305" cy="17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95"/>
              </a:lnSpc>
              <a:buNone/>
            </a:pPr>
            <a:r>
              <a:rPr lang="en-US" sz="900" dirty="0">
                <a:solidFill>
                  <a:srgbClr val="4D49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учитель, участник программы</a:t>
            </a:r>
            <a:endParaRPr lang="en-US" sz="900" dirty="0"/>
          </a:p>
        </p:txBody>
      </p:sp>
      <p:pic>
        <p:nvPicPr>
          <p:cNvPr id="17" name="Image 2" descr="/tmp/h2p-fit-1790420010366-g6thr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015" y="1300163"/>
            <a:ext cx="3154635" cy="34290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07834" y="4731395"/>
            <a:ext cx="615192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kern="0" spc="79" dirty="0">
                <a:solidFill>
                  <a:srgbClr val="4D49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714375" y="-785812"/>
            <a:ext cx="2143125" cy="2143125"/>
          </a:xfrm>
          <a:prstGeom prst="ellipse">
            <a:avLst/>
          </a:prstGeom>
          <a:solidFill>
            <a:srgbClr val="9A8AB5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500938" y="3643313"/>
            <a:ext cx="2428875" cy="2428875"/>
          </a:xfrm>
          <a:prstGeom prst="ellipse">
            <a:avLst/>
          </a:prstGeom>
          <a:solidFill>
            <a:srgbClr val="D4B98C">
              <a:alpha val="4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2"/>
          <p:cNvSpPr/>
          <p:nvPr/>
        </p:nvSpPr>
        <p:spPr>
          <a:xfrm>
            <a:off x="514350" y="2635374"/>
            <a:ext cx="5031432" cy="0"/>
          </a:xfrm>
          <a:prstGeom prst="line">
            <a:avLst/>
          </a:prstGeom>
          <a:noFill/>
          <a:ln w="7144">
            <a:solidFill>
              <a:srgbClr val="7A623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14350" y="3229645"/>
            <a:ext cx="5031432" cy="0"/>
          </a:xfrm>
          <a:prstGeom prst="line">
            <a:avLst/>
          </a:prstGeom>
          <a:noFill/>
          <a:ln w="7144">
            <a:solidFill>
              <a:srgbClr val="7A623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14350" y="3823915"/>
            <a:ext cx="5031432" cy="0"/>
          </a:xfrm>
          <a:prstGeom prst="line">
            <a:avLst/>
          </a:prstGeom>
          <a:noFill/>
          <a:ln w="7144">
            <a:solidFill>
              <a:srgbClr val="7A623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14350" y="4418186"/>
            <a:ext cx="5031432" cy="0"/>
          </a:xfrm>
          <a:prstGeom prst="line">
            <a:avLst/>
          </a:prstGeom>
          <a:noFill/>
          <a:ln w="7144">
            <a:solidFill>
              <a:srgbClr val="7A623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07834" y="4788545"/>
            <a:ext cx="615192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kern="0" spc="79" dirty="0">
                <a:solidFill>
                  <a:srgbClr val="4D49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14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14350" y="457200"/>
            <a:ext cx="5735833" cy="203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i="1" kern="0" spc="19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Раздел 10 · Применения</a:t>
            </a:r>
            <a:endParaRPr lang="en-US" sz="956" dirty="0"/>
          </a:p>
        </p:txBody>
      </p:sp>
      <p:sp>
        <p:nvSpPr>
          <p:cNvPr id="12" name="Text 8"/>
          <p:cNvSpPr/>
          <p:nvPr/>
        </p:nvSpPr>
        <p:spPr>
          <a:xfrm>
            <a:off x="514350" y="788268"/>
            <a:ext cx="4872038" cy="749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363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Где Z.ai помогает учителю каждый день</a:t>
            </a:r>
            <a:endParaRPr lang="en-US" sz="2363" dirty="0"/>
          </a:p>
        </p:txBody>
      </p:sp>
      <p:sp>
        <p:nvSpPr>
          <p:cNvPr id="13" name="Text 9"/>
          <p:cNvSpPr/>
          <p:nvPr/>
        </p:nvSpPr>
        <p:spPr>
          <a:xfrm>
            <a:off x="514350" y="1565374"/>
            <a:ext cx="4286250" cy="42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69" dirty="0">
                <a:solidFill>
                  <a:srgbClr val="38352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Пять конкретных точек, где ассистент берёт на себя рутину и освобождает время для живой работы с учеником.</a:t>
            </a:r>
            <a:endParaRPr lang="en-US" sz="1069" dirty="0"/>
          </a:p>
        </p:txBody>
      </p:sp>
      <p:sp>
        <p:nvSpPr>
          <p:cNvPr id="14" name="Text 10"/>
          <p:cNvSpPr/>
          <p:nvPr/>
        </p:nvSpPr>
        <p:spPr>
          <a:xfrm>
            <a:off x="542925" y="218755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15" name="Text 11"/>
          <p:cNvSpPr/>
          <p:nvPr/>
        </p:nvSpPr>
        <p:spPr>
          <a:xfrm>
            <a:off x="871538" y="2158975"/>
            <a:ext cx="3283301" cy="189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238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Подготовка урока</a:t>
            </a:r>
            <a:endParaRPr lang="en-US" sz="1238" dirty="0"/>
          </a:p>
        </p:txBody>
      </p:sp>
      <p:sp>
        <p:nvSpPr>
          <p:cNvPr id="16" name="Text 12"/>
          <p:cNvSpPr/>
          <p:nvPr/>
        </p:nvSpPr>
        <p:spPr>
          <a:xfrm>
            <a:off x="871538" y="2376078"/>
            <a:ext cx="3126953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956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Структура, тезисы, методические материалы по теме</a:t>
            </a:r>
            <a:endParaRPr lang="en-US" sz="956" dirty="0"/>
          </a:p>
        </p:txBody>
      </p:sp>
      <p:sp>
        <p:nvSpPr>
          <p:cNvPr id="17" name="Text 13"/>
          <p:cNvSpPr/>
          <p:nvPr/>
        </p:nvSpPr>
        <p:spPr>
          <a:xfrm>
            <a:off x="542925" y="278182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18" name="Text 14"/>
          <p:cNvSpPr/>
          <p:nvPr/>
        </p:nvSpPr>
        <p:spPr>
          <a:xfrm>
            <a:off x="871538" y="2753246"/>
            <a:ext cx="2449994" cy="189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238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Раздаточные материалы</a:t>
            </a:r>
            <a:endParaRPr lang="en-US" sz="1238" dirty="0"/>
          </a:p>
        </p:txBody>
      </p:sp>
      <p:sp>
        <p:nvSpPr>
          <p:cNvPr id="19" name="Text 15"/>
          <p:cNvSpPr/>
          <p:nvPr/>
        </p:nvSpPr>
        <p:spPr>
          <a:xfrm>
            <a:off x="871538" y="2970349"/>
            <a:ext cx="2519994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956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Карточки, рабочие листы, иллюстрации</a:t>
            </a:r>
            <a:endParaRPr lang="en-US" sz="956" dirty="0"/>
          </a:p>
        </p:txBody>
      </p:sp>
      <p:sp>
        <p:nvSpPr>
          <p:cNvPr id="20" name="Text 16"/>
          <p:cNvSpPr/>
          <p:nvPr/>
        </p:nvSpPr>
        <p:spPr>
          <a:xfrm>
            <a:off x="542925" y="337609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21" name="Text 17"/>
          <p:cNvSpPr/>
          <p:nvPr/>
        </p:nvSpPr>
        <p:spPr>
          <a:xfrm>
            <a:off x="871538" y="3347517"/>
            <a:ext cx="2784254" cy="189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238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Интерактивные элементы</a:t>
            </a:r>
            <a:endParaRPr lang="en-US" sz="1238" dirty="0"/>
          </a:p>
        </p:txBody>
      </p:sp>
      <p:sp>
        <p:nvSpPr>
          <p:cNvPr id="22" name="Text 18"/>
          <p:cNvSpPr/>
          <p:nvPr/>
        </p:nvSpPr>
        <p:spPr>
          <a:xfrm>
            <a:off x="871538" y="3564620"/>
            <a:ext cx="2863804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956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Мини-игры, викторины, задания с проверкой</a:t>
            </a:r>
            <a:endParaRPr lang="en-US" sz="956" dirty="0"/>
          </a:p>
        </p:txBody>
      </p:sp>
      <p:sp>
        <p:nvSpPr>
          <p:cNvPr id="23" name="Text 19"/>
          <p:cNvSpPr/>
          <p:nvPr/>
        </p:nvSpPr>
        <p:spPr>
          <a:xfrm>
            <a:off x="542925" y="397036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24" name="Text 20"/>
          <p:cNvSpPr/>
          <p:nvPr/>
        </p:nvSpPr>
        <p:spPr>
          <a:xfrm>
            <a:off x="871538" y="3941787"/>
            <a:ext cx="2804296" cy="189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238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Проверка домашних работ</a:t>
            </a:r>
            <a:endParaRPr lang="en-US" sz="1238" dirty="0"/>
          </a:p>
        </p:txBody>
      </p:sp>
      <p:sp>
        <p:nvSpPr>
          <p:cNvPr id="25" name="Text 21"/>
          <p:cNvSpPr/>
          <p:nvPr/>
        </p:nvSpPr>
        <p:spPr>
          <a:xfrm>
            <a:off x="871538" y="4158890"/>
            <a:ext cx="2884419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956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фото с пошаговым разбором ошибок</a:t>
            </a:r>
            <a:endParaRPr lang="en-US" sz="956" dirty="0"/>
          </a:p>
        </p:txBody>
      </p:sp>
      <p:sp>
        <p:nvSpPr>
          <p:cNvPr id="26" name="Text 22"/>
          <p:cNvSpPr/>
          <p:nvPr/>
        </p:nvSpPr>
        <p:spPr>
          <a:xfrm>
            <a:off x="542925" y="456463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969" dirty="0"/>
          </a:p>
        </p:txBody>
      </p:sp>
      <p:sp>
        <p:nvSpPr>
          <p:cNvPr id="27" name="Text 23"/>
          <p:cNvSpPr/>
          <p:nvPr/>
        </p:nvSpPr>
        <p:spPr>
          <a:xfrm>
            <a:off x="871538" y="4536058"/>
            <a:ext cx="2602708" cy="189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238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Развитие самого учителя</a:t>
            </a:r>
            <a:endParaRPr lang="en-US" sz="1238" dirty="0"/>
          </a:p>
        </p:txBody>
      </p:sp>
      <p:sp>
        <p:nvSpPr>
          <p:cNvPr id="28" name="Text 24"/>
          <p:cNvSpPr/>
          <p:nvPr/>
        </p:nvSpPr>
        <p:spPr>
          <a:xfrm>
            <a:off x="871538" y="4753161"/>
            <a:ext cx="2677071" cy="18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956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Освоение новых тем, методик и подходов</a:t>
            </a:r>
            <a:endParaRPr lang="en-US" sz="956" dirty="0"/>
          </a:p>
        </p:txBody>
      </p:sp>
      <p:pic>
        <p:nvPicPr>
          <p:cNvPr id="29" name="Image 2" descr="/tmp/h2p-fit-1790420005474-v50dq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1532" y="457200"/>
            <a:ext cx="3083756" cy="371475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708182" y="4271963"/>
            <a:ext cx="3330456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Учитель — автор. Z.ai — инструмент.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857250" y="-928687"/>
            <a:ext cx="2428875" cy="2428875"/>
          </a:xfrm>
          <a:prstGeom prst="ellipse">
            <a:avLst/>
          </a:prstGeom>
          <a:solidFill>
            <a:srgbClr val="E0BFC3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4686300" y="4071938"/>
            <a:ext cx="1714500" cy="1714500"/>
          </a:xfrm>
          <a:prstGeom prst="ellipse">
            <a:avLst/>
          </a:prstGeom>
          <a:solidFill>
            <a:srgbClr val="D4B98C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8207834" y="4788545"/>
            <a:ext cx="615192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kern="0" spc="79" dirty="0">
                <a:solidFill>
                  <a:srgbClr val="4D49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14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14350" y="457200"/>
            <a:ext cx="8629650" cy="203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i="1" kern="0" spc="19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Раздел 11 · Голоса</a:t>
            </a:r>
            <a:endParaRPr lang="en-US" sz="956" dirty="0"/>
          </a:p>
        </p:txBody>
      </p:sp>
      <p:sp>
        <p:nvSpPr>
          <p:cNvPr id="8" name="Text 4"/>
          <p:cNvSpPr/>
          <p:nvPr/>
        </p:nvSpPr>
        <p:spPr>
          <a:xfrm>
            <a:off x="514350" y="785924"/>
            <a:ext cx="514350" cy="17859"/>
          </a:xfrm>
          <a:prstGeom prst="rect">
            <a:avLst/>
          </a:prstGeom>
          <a:solidFill>
            <a:srgbClr val="7A6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14350" y="952574"/>
            <a:ext cx="8521065" cy="38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363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Что говорят пользователи</a:t>
            </a:r>
            <a:endParaRPr lang="en-US" sz="2363" dirty="0"/>
          </a:p>
        </p:txBody>
      </p:sp>
      <p:sp>
        <p:nvSpPr>
          <p:cNvPr id="10" name="Text 6"/>
          <p:cNvSpPr/>
          <p:nvPr/>
        </p:nvSpPr>
        <p:spPr>
          <a:xfrm>
            <a:off x="517922" y="1473287"/>
            <a:ext cx="5673477" cy="1050354"/>
          </a:xfrm>
          <a:prstGeom prst="roundRect">
            <a:avLst>
              <a:gd name="adj" fmla="val 16323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B89968"/>
            </a:solidFill>
            <a:prstDash val="solid"/>
          </a:ln>
          <a:effectLst>
            <a:outerShdw blurRad="228600" dist="76200" dir="5400000" algn="bl" rotWithShape="0">
              <a:srgbClr val="3D3A3A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721519" y="1519721"/>
            <a:ext cx="368617" cy="38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4050" b="1" i="1" dirty="0">
                <a:solidFill>
                  <a:srgbClr val="7A623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„</a:t>
            </a:r>
            <a:endParaRPr lang="en-US" sz="4050" dirty="0"/>
          </a:p>
        </p:txBody>
      </p:sp>
      <p:sp>
        <p:nvSpPr>
          <p:cNvPr id="12" name="Text 8"/>
          <p:cNvSpPr/>
          <p:nvPr/>
        </p:nvSpPr>
        <p:spPr>
          <a:xfrm>
            <a:off x="1178719" y="1634021"/>
            <a:ext cx="4751933" cy="56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7"/>
              </a:lnSpc>
              <a:buNone/>
            </a:pPr>
            <a:r>
              <a:rPr lang="en-US" sz="1463" i="1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Z.ai — отличный инструмент для рутинных задач и быстрого прототипирования.</a:t>
            </a:r>
            <a:endParaRPr lang="en-US" sz="1463" dirty="0"/>
          </a:p>
        </p:txBody>
      </p:sp>
      <p:sp>
        <p:nvSpPr>
          <p:cNvPr id="13" name="Text 9"/>
          <p:cNvSpPr/>
          <p:nvPr/>
        </p:nvSpPr>
        <p:spPr>
          <a:xfrm>
            <a:off x="4943140" y="224414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1266" dirty="0"/>
          </a:p>
        </p:txBody>
      </p:sp>
      <p:sp>
        <p:nvSpPr>
          <p:cNvPr id="14" name="Text 10"/>
          <p:cNvSpPr/>
          <p:nvPr/>
        </p:nvSpPr>
        <p:spPr>
          <a:xfrm>
            <a:off x="5114590" y="2225390"/>
            <a:ext cx="87321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4D49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разработчик</a:t>
            </a:r>
            <a:endParaRPr lang="en-US" sz="844" dirty="0"/>
          </a:p>
        </p:txBody>
      </p:sp>
      <p:sp>
        <p:nvSpPr>
          <p:cNvPr id="15" name="Text 11"/>
          <p:cNvSpPr/>
          <p:nvPr/>
        </p:nvSpPr>
        <p:spPr>
          <a:xfrm>
            <a:off x="517922" y="2630798"/>
            <a:ext cx="5673477" cy="1050354"/>
          </a:xfrm>
          <a:prstGeom prst="roundRect">
            <a:avLst>
              <a:gd name="adj" fmla="val 16323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B89968"/>
            </a:solidFill>
            <a:prstDash val="solid"/>
          </a:ln>
          <a:effectLst>
            <a:outerShdw blurRad="228600" dist="76200" dir="5400000" algn="bl" rotWithShape="0">
              <a:srgbClr val="3D3A3A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721519" y="2677232"/>
            <a:ext cx="368617" cy="38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4050" b="1" i="1" dirty="0">
                <a:solidFill>
                  <a:srgbClr val="7A623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„</a:t>
            </a:r>
            <a:endParaRPr lang="en-US" sz="4050" dirty="0"/>
          </a:p>
        </p:txBody>
      </p:sp>
      <p:sp>
        <p:nvSpPr>
          <p:cNvPr id="17" name="Text 13"/>
          <p:cNvSpPr/>
          <p:nvPr/>
        </p:nvSpPr>
        <p:spPr>
          <a:xfrm>
            <a:off x="1178719" y="2791532"/>
            <a:ext cx="4751933" cy="56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7"/>
              </a:lnSpc>
              <a:buNone/>
            </a:pPr>
            <a:r>
              <a:rPr lang="en-US" sz="1463" i="1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Агент сгенерировал сложные скрипты за минуты, сэкономив мне часы работы.</a:t>
            </a:r>
            <a:endParaRPr lang="en-US" sz="1463" dirty="0"/>
          </a:p>
        </p:txBody>
      </p:sp>
      <p:sp>
        <p:nvSpPr>
          <p:cNvPr id="18" name="Text 14"/>
          <p:cNvSpPr/>
          <p:nvPr/>
        </p:nvSpPr>
        <p:spPr>
          <a:xfrm>
            <a:off x="4454017" y="34016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1266" dirty="0"/>
          </a:p>
        </p:txBody>
      </p:sp>
      <p:sp>
        <p:nvSpPr>
          <p:cNvPr id="19" name="Text 15"/>
          <p:cNvSpPr/>
          <p:nvPr/>
        </p:nvSpPr>
        <p:spPr>
          <a:xfrm>
            <a:off x="4625467" y="3382900"/>
            <a:ext cx="13623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4D49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технический писатель</a:t>
            </a:r>
            <a:endParaRPr lang="en-US" sz="844" dirty="0"/>
          </a:p>
        </p:txBody>
      </p:sp>
      <p:sp>
        <p:nvSpPr>
          <p:cNvPr id="20" name="Text 16"/>
          <p:cNvSpPr/>
          <p:nvPr/>
        </p:nvSpPr>
        <p:spPr>
          <a:xfrm>
            <a:off x="517922" y="3788308"/>
            <a:ext cx="5673477" cy="1050354"/>
          </a:xfrm>
          <a:prstGeom prst="roundRect">
            <a:avLst>
              <a:gd name="adj" fmla="val 16323"/>
            </a:avLst>
          </a:prstGeom>
          <a:solidFill>
            <a:srgbClr val="FFFFFF">
              <a:alpha val="96000"/>
            </a:srgbClr>
          </a:solidFill>
          <a:ln w="7144">
            <a:solidFill>
              <a:srgbClr val="B89968"/>
            </a:solidFill>
            <a:prstDash val="solid"/>
          </a:ln>
          <a:effectLst>
            <a:outerShdw blurRad="228600" dist="76200" dir="5400000" algn="bl" rotWithShape="0">
              <a:srgbClr val="3D3A3A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721519" y="3834743"/>
            <a:ext cx="368617" cy="38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4050" b="1" i="1" dirty="0">
                <a:solidFill>
                  <a:srgbClr val="7A623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„</a:t>
            </a:r>
            <a:endParaRPr lang="en-US" sz="4050" dirty="0"/>
          </a:p>
        </p:txBody>
      </p:sp>
      <p:sp>
        <p:nvSpPr>
          <p:cNvPr id="22" name="Text 18"/>
          <p:cNvSpPr/>
          <p:nvPr/>
        </p:nvSpPr>
        <p:spPr>
          <a:xfrm>
            <a:off x="1178719" y="3949043"/>
            <a:ext cx="4751933" cy="56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7"/>
              </a:lnSpc>
              <a:buNone/>
            </a:pPr>
            <a:r>
              <a:rPr lang="en-US" sz="1463" i="1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Для начинающих это находка — можно учиться, используя готовые решения как пример.</a:t>
            </a:r>
            <a:endParaRPr lang="en-US" sz="1463" dirty="0"/>
          </a:p>
        </p:txBody>
      </p:sp>
      <p:sp>
        <p:nvSpPr>
          <p:cNvPr id="23" name="Text 19"/>
          <p:cNvSpPr/>
          <p:nvPr/>
        </p:nvSpPr>
        <p:spPr>
          <a:xfrm>
            <a:off x="4954525" y="455916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1266" dirty="0"/>
          </a:p>
        </p:txBody>
      </p:sp>
      <p:sp>
        <p:nvSpPr>
          <p:cNvPr id="24" name="Text 20"/>
          <p:cNvSpPr/>
          <p:nvPr/>
        </p:nvSpPr>
        <p:spPr>
          <a:xfrm>
            <a:off x="5125975" y="4540411"/>
            <a:ext cx="86182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4D49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новичок в AI</a:t>
            </a:r>
            <a:endParaRPr lang="en-US" sz="844" dirty="0"/>
          </a:p>
        </p:txBody>
      </p:sp>
      <p:pic>
        <p:nvPicPr>
          <p:cNvPr id="25" name="Image 2" descr="/tmp/h2p-fit-1790420005628-qsjm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721" y="1469715"/>
            <a:ext cx="2434568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785812" y="3714750"/>
            <a:ext cx="2428875" cy="2428875"/>
          </a:xfrm>
          <a:prstGeom prst="ellipse">
            <a:avLst/>
          </a:prstGeom>
          <a:solidFill>
            <a:srgbClr val="D4B98C">
              <a:alpha val="4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4543425" y="-642937"/>
            <a:ext cx="1857375" cy="1857375"/>
          </a:xfrm>
          <a:prstGeom prst="ellipse">
            <a:avLst/>
          </a:prstGeom>
          <a:solidFill>
            <a:srgbClr val="9A8AB5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2"/>
          <p:cNvSpPr/>
          <p:nvPr/>
        </p:nvSpPr>
        <p:spPr>
          <a:xfrm>
            <a:off x="2462138" y="1430424"/>
            <a:ext cx="0" cy="200025"/>
          </a:xfrm>
          <a:prstGeom prst="line">
            <a:avLst/>
          </a:prstGeom>
          <a:noFill/>
          <a:ln w="7144">
            <a:solidFill>
              <a:srgbClr val="7A623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462138" y="1973349"/>
            <a:ext cx="0" cy="200025"/>
          </a:xfrm>
          <a:prstGeom prst="line">
            <a:avLst/>
          </a:prstGeom>
          <a:noFill/>
          <a:ln w="7144">
            <a:solidFill>
              <a:srgbClr val="7A623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462138" y="2516274"/>
            <a:ext cx="0" cy="200025"/>
          </a:xfrm>
          <a:prstGeom prst="line">
            <a:avLst/>
          </a:prstGeom>
          <a:noFill/>
          <a:ln w="7144">
            <a:solidFill>
              <a:srgbClr val="7A623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462138" y="3059199"/>
            <a:ext cx="0" cy="352053"/>
          </a:xfrm>
          <a:prstGeom prst="line">
            <a:avLst/>
          </a:prstGeom>
          <a:noFill/>
          <a:ln w="7144">
            <a:solidFill>
              <a:srgbClr val="7A623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07834" y="4788545"/>
            <a:ext cx="615192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kern="0" spc="79" dirty="0">
                <a:solidFill>
                  <a:srgbClr val="4D49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14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14350" y="457200"/>
            <a:ext cx="6098096" cy="203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i="1" kern="0" spc="19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Раздел 12 · FAQ</a:t>
            </a:r>
            <a:endParaRPr lang="en-US" sz="956" dirty="0"/>
          </a:p>
        </p:txBody>
      </p:sp>
      <p:sp>
        <p:nvSpPr>
          <p:cNvPr id="12" name="Text 8"/>
          <p:cNvSpPr/>
          <p:nvPr/>
        </p:nvSpPr>
        <p:spPr>
          <a:xfrm>
            <a:off x="514350" y="702543"/>
            <a:ext cx="514350" cy="17859"/>
          </a:xfrm>
          <a:prstGeom prst="rect">
            <a:avLst/>
          </a:prstGeom>
          <a:solidFill>
            <a:srgbClr val="7A6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14350" y="806128"/>
            <a:ext cx="5283004" cy="38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363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А это точно безопасно?</a:t>
            </a:r>
            <a:endParaRPr lang="en-US" sz="2363" dirty="0"/>
          </a:p>
        </p:txBody>
      </p:sp>
      <p:sp>
        <p:nvSpPr>
          <p:cNvPr id="14" name="Text 10"/>
          <p:cNvSpPr/>
          <p:nvPr/>
        </p:nvSpPr>
        <p:spPr>
          <a:xfrm>
            <a:off x="517922" y="1312552"/>
            <a:ext cx="5024289" cy="435769"/>
          </a:xfrm>
          <a:prstGeom prst="roundRect">
            <a:avLst>
              <a:gd name="adj" fmla="val 39344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3D3A3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78656" y="144471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28" dirty="0">
                <a:solidFill>
                  <a:srgbClr val="B0757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828" dirty="0"/>
          </a:p>
        </p:txBody>
      </p:sp>
      <p:sp>
        <p:nvSpPr>
          <p:cNvPr id="16" name="Text 12"/>
          <p:cNvSpPr/>
          <p:nvPr/>
        </p:nvSpPr>
        <p:spPr>
          <a:xfrm>
            <a:off x="950119" y="1430424"/>
            <a:ext cx="140843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125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Нужно ли платить?</a:t>
            </a:r>
            <a:endParaRPr lang="en-US" sz="1125" dirty="0"/>
          </a:p>
        </p:txBody>
      </p:sp>
      <p:sp>
        <p:nvSpPr>
          <p:cNvPr id="17" name="Text 13"/>
          <p:cNvSpPr/>
          <p:nvPr/>
        </p:nvSpPr>
        <p:spPr>
          <a:xfrm>
            <a:off x="2594297" y="145185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88" dirty="0"/>
          </a:p>
        </p:txBody>
      </p:sp>
      <p:sp>
        <p:nvSpPr>
          <p:cNvPr id="18" name="Text 14"/>
          <p:cNvSpPr/>
          <p:nvPr/>
        </p:nvSpPr>
        <p:spPr>
          <a:xfrm>
            <a:off x="2851472" y="1430424"/>
            <a:ext cx="2530004" cy="190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87"/>
              </a:lnSpc>
              <a:buNone/>
            </a:pPr>
            <a:r>
              <a:rPr lang="en-US" sz="956" dirty="0">
                <a:solidFill>
                  <a:srgbClr val="38352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Нет, базовый чат бесплатный.</a:t>
            </a:r>
            <a:endParaRPr lang="en-US" sz="956" dirty="0"/>
          </a:p>
        </p:txBody>
      </p:sp>
      <p:sp>
        <p:nvSpPr>
          <p:cNvPr id="19" name="Text 15"/>
          <p:cNvSpPr/>
          <p:nvPr/>
        </p:nvSpPr>
        <p:spPr>
          <a:xfrm>
            <a:off x="517922" y="1855477"/>
            <a:ext cx="5024289" cy="435769"/>
          </a:xfrm>
          <a:prstGeom prst="roundRect">
            <a:avLst>
              <a:gd name="adj" fmla="val 39344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3D3A3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78656" y="1987637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28" dirty="0">
                <a:solidFill>
                  <a:srgbClr val="B0757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828" dirty="0"/>
          </a:p>
        </p:txBody>
      </p:sp>
      <p:sp>
        <p:nvSpPr>
          <p:cNvPr id="21" name="Text 17"/>
          <p:cNvSpPr/>
          <p:nvPr/>
        </p:nvSpPr>
        <p:spPr>
          <a:xfrm>
            <a:off x="950119" y="1973349"/>
            <a:ext cx="140843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125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Нужен ли VPN?</a:t>
            </a:r>
            <a:endParaRPr lang="en-US" sz="1125" dirty="0"/>
          </a:p>
        </p:txBody>
      </p:sp>
      <p:sp>
        <p:nvSpPr>
          <p:cNvPr id="22" name="Text 18"/>
          <p:cNvSpPr/>
          <p:nvPr/>
        </p:nvSpPr>
        <p:spPr>
          <a:xfrm>
            <a:off x="2594297" y="19947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88" dirty="0"/>
          </a:p>
        </p:txBody>
      </p:sp>
      <p:sp>
        <p:nvSpPr>
          <p:cNvPr id="23" name="Text 19"/>
          <p:cNvSpPr/>
          <p:nvPr/>
        </p:nvSpPr>
        <p:spPr>
          <a:xfrm>
            <a:off x="2851472" y="1973349"/>
            <a:ext cx="2530004" cy="190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87"/>
              </a:lnSpc>
              <a:buNone/>
            </a:pPr>
            <a:r>
              <a:rPr lang="en-US" sz="956" dirty="0">
                <a:solidFill>
                  <a:srgbClr val="38352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Нет, работает из России.</a:t>
            </a:r>
            <a:endParaRPr lang="en-US" sz="956" dirty="0"/>
          </a:p>
        </p:txBody>
      </p:sp>
      <p:sp>
        <p:nvSpPr>
          <p:cNvPr id="24" name="Text 20"/>
          <p:cNvSpPr/>
          <p:nvPr/>
        </p:nvSpPr>
        <p:spPr>
          <a:xfrm>
            <a:off x="517922" y="2398402"/>
            <a:ext cx="5024289" cy="435769"/>
          </a:xfrm>
          <a:prstGeom prst="roundRect">
            <a:avLst>
              <a:gd name="adj" fmla="val 39344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3D3A3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678656" y="253056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28" dirty="0">
                <a:solidFill>
                  <a:srgbClr val="B0757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828" dirty="0"/>
          </a:p>
        </p:txBody>
      </p:sp>
      <p:sp>
        <p:nvSpPr>
          <p:cNvPr id="26" name="Text 22"/>
          <p:cNvSpPr/>
          <p:nvPr/>
        </p:nvSpPr>
        <p:spPr>
          <a:xfrm>
            <a:off x="950119" y="2516274"/>
            <a:ext cx="140843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125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Это сложно?</a:t>
            </a:r>
            <a:endParaRPr lang="en-US" sz="1125" dirty="0"/>
          </a:p>
        </p:txBody>
      </p:sp>
      <p:sp>
        <p:nvSpPr>
          <p:cNvPr id="27" name="Text 23"/>
          <p:cNvSpPr/>
          <p:nvPr/>
        </p:nvSpPr>
        <p:spPr>
          <a:xfrm>
            <a:off x="2594297" y="25377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88" dirty="0"/>
          </a:p>
        </p:txBody>
      </p:sp>
      <p:sp>
        <p:nvSpPr>
          <p:cNvPr id="28" name="Text 24"/>
          <p:cNvSpPr/>
          <p:nvPr/>
        </p:nvSpPr>
        <p:spPr>
          <a:xfrm>
            <a:off x="2851472" y="2516274"/>
            <a:ext cx="2530004" cy="190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87"/>
              </a:lnSpc>
              <a:buNone/>
            </a:pPr>
            <a:r>
              <a:rPr lang="en-US" sz="956" dirty="0">
                <a:solidFill>
                  <a:srgbClr val="38352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Нет, интерфейс на русском.</a:t>
            </a:r>
            <a:endParaRPr lang="en-US" sz="956" dirty="0"/>
          </a:p>
        </p:txBody>
      </p:sp>
      <p:sp>
        <p:nvSpPr>
          <p:cNvPr id="29" name="Text 25"/>
          <p:cNvSpPr/>
          <p:nvPr/>
        </p:nvSpPr>
        <p:spPr>
          <a:xfrm>
            <a:off x="517922" y="2941327"/>
            <a:ext cx="5024289" cy="587797"/>
          </a:xfrm>
          <a:prstGeom prst="roundRect">
            <a:avLst>
              <a:gd name="adj" fmla="val 29168"/>
            </a:avLst>
          </a:prstGeom>
          <a:solidFill>
            <a:srgbClr val="FFFFFF">
              <a:alpha val="55000"/>
            </a:srgbClr>
          </a:solidFill>
          <a:ln w="7144">
            <a:solidFill>
              <a:srgbClr val="3D3A3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678656" y="3073487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28" dirty="0">
                <a:solidFill>
                  <a:srgbClr val="B0757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828" dirty="0"/>
          </a:p>
        </p:txBody>
      </p:sp>
      <p:sp>
        <p:nvSpPr>
          <p:cNvPr id="31" name="Text 27"/>
          <p:cNvSpPr/>
          <p:nvPr/>
        </p:nvSpPr>
        <p:spPr>
          <a:xfrm>
            <a:off x="950119" y="3059199"/>
            <a:ext cx="140843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125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Он заменит меня?</a:t>
            </a:r>
            <a:endParaRPr lang="en-US" sz="1125" dirty="0"/>
          </a:p>
        </p:txBody>
      </p:sp>
      <p:sp>
        <p:nvSpPr>
          <p:cNvPr id="32" name="Text 28"/>
          <p:cNvSpPr/>
          <p:nvPr/>
        </p:nvSpPr>
        <p:spPr>
          <a:xfrm>
            <a:off x="2594297" y="30806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88" dirty="0"/>
          </a:p>
        </p:txBody>
      </p:sp>
      <p:sp>
        <p:nvSpPr>
          <p:cNvPr id="33" name="Text 29"/>
          <p:cNvSpPr/>
          <p:nvPr/>
        </p:nvSpPr>
        <p:spPr>
          <a:xfrm>
            <a:off x="2851472" y="3059199"/>
            <a:ext cx="2530004" cy="352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7"/>
              </a:lnSpc>
              <a:buNone/>
            </a:pPr>
            <a:r>
              <a:rPr lang="en-US" sz="956" dirty="0">
                <a:solidFill>
                  <a:srgbClr val="38352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Нет. Он заменит рутину. Учить детей будете вы.</a:t>
            </a:r>
            <a:endParaRPr lang="en-US" sz="956" dirty="0"/>
          </a:p>
        </p:txBody>
      </p:sp>
      <p:sp>
        <p:nvSpPr>
          <p:cNvPr id="34" name="Text 30"/>
          <p:cNvSpPr/>
          <p:nvPr/>
        </p:nvSpPr>
        <p:spPr>
          <a:xfrm>
            <a:off x="313093" y="3661283"/>
            <a:ext cx="5433947" cy="18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39"/>
              </a:lnSpc>
              <a:buNone/>
            </a:pPr>
            <a:r>
              <a:rPr lang="en-US" sz="956" i="1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Вопросы, которые превращаются в галочки.</a:t>
            </a:r>
            <a:endParaRPr lang="en-US" sz="956" dirty="0"/>
          </a:p>
        </p:txBody>
      </p:sp>
      <p:pic>
        <p:nvPicPr>
          <p:cNvPr id="35" name="Image 2" descr="/tmp/h2p-fit-1790420006411-aa6j4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1532" y="457200"/>
            <a:ext cx="3083756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00938" y="-928687"/>
            <a:ext cx="2428875" cy="2428875"/>
          </a:xfrm>
          <a:prstGeom prst="ellipse">
            <a:avLst/>
          </a:prstGeom>
          <a:solidFill>
            <a:srgbClr val="D4B98C">
              <a:alpha val="4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785812" y="3786188"/>
            <a:ext cx="2286000" cy="2286000"/>
          </a:xfrm>
          <a:prstGeom prst="ellipse">
            <a:avLst/>
          </a:prstGeom>
          <a:solidFill>
            <a:srgbClr val="E0BFC3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3840435" y="2057400"/>
            <a:ext cx="2000250" cy="2000250"/>
          </a:xfrm>
          <a:prstGeom prst="ellipse">
            <a:avLst/>
          </a:prstGeom>
          <a:solidFill>
            <a:srgbClr val="9A8AB5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957263" y="3215915"/>
            <a:ext cx="4588520" cy="0"/>
          </a:xfrm>
          <a:prstGeom prst="line">
            <a:avLst/>
          </a:prstGeom>
          <a:noFill/>
          <a:ln w="7144">
            <a:solidFill>
              <a:srgbClr val="7A623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57263" y="3578796"/>
            <a:ext cx="4588520" cy="0"/>
          </a:xfrm>
          <a:prstGeom prst="line">
            <a:avLst/>
          </a:prstGeom>
          <a:noFill/>
          <a:ln w="7144">
            <a:solidFill>
              <a:srgbClr val="7A623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07834" y="4788545"/>
            <a:ext cx="615192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kern="0" spc="79" dirty="0">
                <a:solidFill>
                  <a:srgbClr val="4D49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/ 14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514350" y="878235"/>
            <a:ext cx="6098096" cy="203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i="1" kern="0" spc="19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Раздел 13 · Финал</a:t>
            </a:r>
            <a:endParaRPr lang="en-US" sz="956" dirty="0"/>
          </a:p>
        </p:txBody>
      </p:sp>
      <p:sp>
        <p:nvSpPr>
          <p:cNvPr id="11" name="Text 7"/>
          <p:cNvSpPr/>
          <p:nvPr/>
        </p:nvSpPr>
        <p:spPr>
          <a:xfrm>
            <a:off x="514350" y="1123578"/>
            <a:ext cx="514350" cy="17859"/>
          </a:xfrm>
          <a:prstGeom prst="rect">
            <a:avLst/>
          </a:prstGeom>
          <a:solidFill>
            <a:srgbClr val="7A6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14350" y="1241450"/>
            <a:ext cx="4143375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813" b="1" kern="0" spc="14" dirty="0">
                <a:solidFill>
                  <a:srgbClr val="2A28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Ваш следующий урок может стать особенным</a:t>
            </a:r>
            <a:endParaRPr lang="en-US" sz="2813" dirty="0"/>
          </a:p>
        </p:txBody>
      </p:sp>
      <p:sp>
        <p:nvSpPr>
          <p:cNvPr id="13" name="Text 9"/>
          <p:cNvSpPr/>
          <p:nvPr/>
        </p:nvSpPr>
        <p:spPr>
          <a:xfrm>
            <a:off x="514350" y="2227287"/>
            <a:ext cx="685800" cy="17859"/>
          </a:xfrm>
          <a:prstGeom prst="rect">
            <a:avLst/>
          </a:prstGeom>
          <a:solidFill>
            <a:srgbClr val="7A6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14350" y="2345159"/>
            <a:ext cx="4143375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238" i="1" dirty="0">
                <a:solidFill>
                  <a:srgbClr val="38352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Попробуйте Z.ai сегодня. Одна задача. Один урок. Один результат.</a:t>
            </a:r>
            <a:endParaRPr lang="en-US" sz="1238" dirty="0"/>
          </a:p>
        </p:txBody>
      </p:sp>
      <p:sp>
        <p:nvSpPr>
          <p:cNvPr id="15" name="Text 11"/>
          <p:cNvSpPr/>
          <p:nvPr/>
        </p:nvSpPr>
        <p:spPr>
          <a:xfrm>
            <a:off x="514350" y="2942332"/>
            <a:ext cx="5029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i="1" dirty="0">
                <a:solidFill>
                  <a:srgbClr val="7A62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957263" y="3013770"/>
            <a:ext cx="4817946" cy="222175"/>
          </a:xfrm>
          <a:prstGeom prst="rect">
            <a:avLst/>
          </a:prstGeom>
          <a:noFill/>
          <a:ln/>
        </p:spPr>
        <p:txBody>
          <a:bodyPr wrap="none" lIns="0" tIns="0" rIns="0" bIns="28575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956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Откройте chat.z.ai</a:t>
            </a:r>
            <a:endParaRPr lang="en-US" sz="956" dirty="0"/>
          </a:p>
        </p:txBody>
      </p:sp>
      <p:sp>
        <p:nvSpPr>
          <p:cNvPr id="17" name="Text 13"/>
          <p:cNvSpPr/>
          <p:nvPr/>
        </p:nvSpPr>
        <p:spPr>
          <a:xfrm>
            <a:off x="514350" y="3305212"/>
            <a:ext cx="5029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i="1" dirty="0">
                <a:solidFill>
                  <a:srgbClr val="7A62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957263" y="3376650"/>
            <a:ext cx="4817946" cy="222175"/>
          </a:xfrm>
          <a:prstGeom prst="rect">
            <a:avLst/>
          </a:prstGeom>
          <a:noFill/>
          <a:ln/>
        </p:spPr>
        <p:txBody>
          <a:bodyPr wrap="none" lIns="0" tIns="0" rIns="0" bIns="28575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956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Выберите Агент</a:t>
            </a:r>
            <a:endParaRPr lang="en-US" sz="956" dirty="0"/>
          </a:p>
        </p:txBody>
      </p:sp>
      <p:sp>
        <p:nvSpPr>
          <p:cNvPr id="19" name="Text 15"/>
          <p:cNvSpPr/>
          <p:nvPr/>
        </p:nvSpPr>
        <p:spPr>
          <a:xfrm>
            <a:off x="514350" y="3668092"/>
            <a:ext cx="5029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i="1" dirty="0">
                <a:solidFill>
                  <a:srgbClr val="7A62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957263" y="3739530"/>
            <a:ext cx="4817946" cy="214460"/>
          </a:xfrm>
          <a:prstGeom prst="rect">
            <a:avLst/>
          </a:prstGeom>
          <a:noFill/>
          <a:ln/>
        </p:spPr>
        <p:txBody>
          <a:bodyPr wrap="none" lIns="0" tIns="0" rIns="0" bIns="28575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956" dirty="0">
                <a:solidFill>
                  <a:srgbClr val="2A282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Дайте простую задачу</a:t>
            </a:r>
            <a:endParaRPr lang="en-US" sz="956" dirty="0"/>
          </a:p>
        </p:txBody>
      </p:sp>
      <p:sp>
        <p:nvSpPr>
          <p:cNvPr id="21" name="Text 17"/>
          <p:cNvSpPr/>
          <p:nvPr/>
        </p:nvSpPr>
        <p:spPr>
          <a:xfrm>
            <a:off x="514350" y="4095266"/>
            <a:ext cx="5031432" cy="183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956" i="1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Вы — режиссёр. Z.ai — ваша команда. Удачи на площадке!</a:t>
            </a:r>
            <a:endParaRPr lang="en-US" sz="956" dirty="0"/>
          </a:p>
        </p:txBody>
      </p:sp>
      <p:sp>
        <p:nvSpPr>
          <p:cNvPr id="22" name="Text 18"/>
          <p:cNvSpPr/>
          <p:nvPr/>
        </p:nvSpPr>
        <p:spPr>
          <a:xfrm>
            <a:off x="6880436" y="725872"/>
            <a:ext cx="985838" cy="985838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14288">
            <a:solidFill>
              <a:srgbClr val="B89968"/>
            </a:solidFill>
            <a:prstDash val="solid"/>
          </a:ln>
          <a:effectLst>
            <a:outerShdw blurRad="171450" dist="57150" dir="5400000" algn="bl" rotWithShape="0">
              <a:srgbClr val="B89968">
                <a:alpha val="1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873292" y="718728"/>
            <a:ext cx="1000125" cy="1000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7A62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4800" dirty="0"/>
          </a:p>
        </p:txBody>
      </p:sp>
      <p:sp>
        <p:nvSpPr>
          <p:cNvPr id="24" name="Text 20"/>
          <p:cNvSpPr/>
          <p:nvPr/>
        </p:nvSpPr>
        <p:spPr>
          <a:xfrm>
            <a:off x="6373230" y="1804578"/>
            <a:ext cx="2000250" cy="345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4D4944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Отсканируйте, чтобы открыть chat.z.ai</a:t>
            </a:r>
            <a:endParaRPr lang="en-US" sz="900" dirty="0"/>
          </a:p>
        </p:txBody>
      </p:sp>
      <p:pic>
        <p:nvPicPr>
          <p:cNvPr id="25" name="Image 2" descr="/tmp/h2p-fit-1790420006600-3lxl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1532" y="2281647"/>
            <a:ext cx="3083756" cy="2143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1837</Words>
  <Application>Microsoft Office PowerPoint</Application>
  <PresentationFormat>Экран (16:9)</PresentationFormat>
  <Paragraphs>237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Carlito</vt:lpstr>
      <vt:lpstr>Liberation Sans Narrow</vt:lpstr>
      <vt:lpstr>Segoe UI Symbol</vt:lpstr>
      <vt:lpstr>Tinos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compas-a@outlook.com</cp:lastModifiedBy>
  <cp:revision>2</cp:revision>
  <dcterms:created xsi:type="dcterms:W3CDTF">2026-09-26T10:53:30Z</dcterms:created>
  <dcterms:modified xsi:type="dcterms:W3CDTF">2026-09-26T10:55:14Z</dcterms:modified>
</cp:coreProperties>
</file>